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71" r:id="rId3"/>
    <p:sldId id="287" r:id="rId4"/>
    <p:sldId id="257" r:id="rId5"/>
    <p:sldId id="258" r:id="rId6"/>
    <p:sldId id="272" r:id="rId7"/>
    <p:sldId id="274" r:id="rId8"/>
    <p:sldId id="275" r:id="rId9"/>
    <p:sldId id="276" r:id="rId10"/>
    <p:sldId id="277" r:id="rId11"/>
    <p:sldId id="278" r:id="rId12"/>
    <p:sldId id="279" r:id="rId13"/>
    <p:sldId id="281" r:id="rId14"/>
    <p:sldId id="280" r:id="rId15"/>
    <p:sldId id="282" r:id="rId16"/>
    <p:sldId id="286" r:id="rId17"/>
    <p:sldId id="283" r:id="rId18"/>
    <p:sldId id="284" r:id="rId19"/>
    <p:sldId id="285" r:id="rId20"/>
    <p:sldId id="261" r:id="rId21"/>
    <p:sldId id="262" r:id="rId22"/>
    <p:sldId id="270" r:id="rId23"/>
  </p:sldIdLst>
  <p:sldSz cx="18288000" cy="10287000"/>
  <p:notesSz cx="6858000" cy="9144000"/>
  <p:embeddedFontLst>
    <p:embeddedFont>
      <p:font typeface="TT Lakes Neue" panose="020B0604020202020204" charset="0"/>
      <p:regular r:id="rId25"/>
    </p:embeddedFont>
    <p:embeddedFont>
      <p:font typeface="Anton" panose="020B0604020202020204" charset="0"/>
      <p:regular r:id="rId26"/>
    </p:embeddedFont>
    <p:embeddedFont>
      <p:font typeface="Raleway" panose="020B0604020202020204" charset="0"/>
      <p:regular r:id="rId27"/>
    </p:embeddedFont>
    <p:embeddedFont>
      <p:font typeface="Calibri" panose="020F0502020204030204" pitchFamily="34" charset="0"/>
      <p:regular r:id="rId28"/>
      <p:bold r:id="rId29"/>
      <p:italic r:id="rId30"/>
      <p:boldItalic r:id="rId31"/>
    </p:embeddedFont>
    <p:embeddedFont>
      <p:font typeface="TT Lakes Neue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94622" autoAdjust="0"/>
  </p:normalViewPr>
  <p:slideViewPr>
    <p:cSldViewPr>
      <p:cViewPr>
        <p:scale>
          <a:sx n="60" d="100"/>
          <a:sy n="60" d="100"/>
        </p:scale>
        <p:origin x="-470" y="18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34C858-92D6-482A-80C8-63D7FD106C8D}" type="datetimeFigureOut">
              <a:rPr lang="en-US" smtClean="0"/>
              <a:t>5/11/2025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AB14E0-3646-4723-B0D3-7B33A9261112}" type="slidenum">
              <a:rPr lang="en-US" smtClean="0"/>
              <a:t>‹#›</a:t>
            </a:fld>
            <a:endParaRPr lang="en-US"/>
          </a:p>
        </p:txBody>
      </p:sp>
    </p:spTree>
    <p:extLst>
      <p:ext uri="{BB962C8B-B14F-4D97-AF65-F5344CB8AC3E}">
        <p14:creationId xmlns:p14="http://schemas.microsoft.com/office/powerpoint/2010/main" val="2077120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AB14E0-3646-4723-B0D3-7B33A9261112}" type="slidenum">
              <a:rPr lang="en-US" smtClean="0"/>
              <a:t>16</a:t>
            </a:fld>
            <a:endParaRPr lang="en-US"/>
          </a:p>
        </p:txBody>
      </p:sp>
    </p:spTree>
    <p:extLst>
      <p:ext uri="{BB962C8B-B14F-4D97-AF65-F5344CB8AC3E}">
        <p14:creationId xmlns:p14="http://schemas.microsoft.com/office/powerpoint/2010/main" val="3494622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C58DEC7-EECB-4F47-A694-A622B3B0C775}" type="datetime1">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61C86C-B0C8-4C7E-9E2A-E3DB5AEDF236}" type="datetime1">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339E1D-BCFD-4526-A552-5857E70300B4}" type="datetime1">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CA9C8E5-2B08-46BC-AD22-71D38BC03D19}" type="datetime1">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53F21A-86CF-4941-9491-FB7441F1071C}" type="datetime1">
              <a:rPr lang="en-US" smtClean="0"/>
              <a:t>5/11/2025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97D692-1B6E-48EF-9979-2A057C0B6C91}" type="datetime1">
              <a:rPr lang="en-US" smtClean="0"/>
              <a:t>5/11/2025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0B2F9-8593-425C-83F7-3E3BC4870674}" type="datetime1">
              <a:rPr lang="en-US" smtClean="0"/>
              <a:t>5/11/2025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6E25E2-5CD3-4565-A7F9-A30EFE3EA31A}" type="datetime1">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30B8DD-7DCE-4310-A8FB-35DDC6BCDD3C}" type="datetime1">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116DE2-05C6-413B-976B-FD1797C24F9C}" type="datetime1">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BFFB7F-A5A2-4D4A-8317-6E97CFC03FD5}" type="datetime1">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3AF5CA-4046-45A9-85A8-9B61B68D073D}" type="datetime1">
              <a:rPr lang="en-US" smtClean="0"/>
              <a:t>5/11/2025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4.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2.png"/><Relationship Id="rId7" Type="http://schemas.openxmlformats.org/officeDocument/2006/relationships/image" Target="../media/image36.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2.png"/><Relationship Id="rId7" Type="http://schemas.openxmlformats.org/officeDocument/2006/relationships/image" Target="../media/image38.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png"/><Relationship Id="rId7" Type="http://schemas.openxmlformats.org/officeDocument/2006/relationships/image" Target="../media/image4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grpSp>
        <p:nvGrpSpPr>
          <p:cNvPr id="3" name="Group 3"/>
          <p:cNvGrpSpPr/>
          <p:nvPr/>
        </p:nvGrpSpPr>
        <p:grpSpPr>
          <a:xfrm>
            <a:off x="0" y="3393895"/>
            <a:ext cx="18387059" cy="3515099"/>
            <a:chOff x="0" y="0"/>
            <a:chExt cx="4842682" cy="925787"/>
          </a:xfrm>
        </p:grpSpPr>
        <p:sp>
          <p:nvSpPr>
            <p:cNvPr id="4" name="Freeform 4"/>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sp>
        <p:sp>
          <p:nvSpPr>
            <p:cNvPr id="5" name="TextBox 5"/>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sp>
        <p:nvSpPr>
          <p:cNvPr id="6" name="Freeform 6"/>
          <p:cNvSpPr/>
          <p:nvPr/>
        </p:nvSpPr>
        <p:spPr>
          <a:xfrm>
            <a:off x="7594631" y="1465245"/>
            <a:ext cx="2351901" cy="2351901"/>
          </a:xfrm>
          <a:custGeom>
            <a:avLst/>
            <a:gdLst/>
            <a:ahLst/>
            <a:cxnLst/>
            <a:rect l="l" t="t" r="r" b="b"/>
            <a:pathLst>
              <a:path w="2351901" h="2351901">
                <a:moveTo>
                  <a:pt x="0" y="0"/>
                </a:moveTo>
                <a:lnTo>
                  <a:pt x="2351900" y="0"/>
                </a:lnTo>
                <a:lnTo>
                  <a:pt x="2351900" y="2351901"/>
                </a:lnTo>
                <a:lnTo>
                  <a:pt x="0" y="235190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7" name="Group 7"/>
          <p:cNvGrpSpPr/>
          <p:nvPr/>
        </p:nvGrpSpPr>
        <p:grpSpPr>
          <a:xfrm>
            <a:off x="16321766" y="9615834"/>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11" name="Group 11"/>
          <p:cNvGrpSpPr/>
          <p:nvPr/>
        </p:nvGrpSpPr>
        <p:grpSpPr>
          <a:xfrm>
            <a:off x="0" y="9488397"/>
            <a:ext cx="2192753" cy="1597205"/>
            <a:chOff x="0" y="0"/>
            <a:chExt cx="577515" cy="420663"/>
          </a:xfrm>
        </p:grpSpPr>
        <p:sp>
          <p:nvSpPr>
            <p:cNvPr id="12" name="Freeform 12"/>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13" name="TextBox 13"/>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4" name="Freeform 14"/>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5" name="TextBox 15"/>
          <p:cNvSpPr txBox="1"/>
          <p:nvPr/>
        </p:nvSpPr>
        <p:spPr>
          <a:xfrm>
            <a:off x="3323024" y="4097168"/>
            <a:ext cx="11641951" cy="1860528"/>
          </a:xfrm>
          <a:prstGeom prst="rect">
            <a:avLst/>
          </a:prstGeom>
        </p:spPr>
        <p:txBody>
          <a:bodyPr lIns="0" tIns="0" rIns="0" bIns="0" rtlCol="0" anchor="t">
            <a:spAutoFit/>
          </a:bodyPr>
          <a:lstStyle/>
          <a:p>
            <a:pPr algn="ctr">
              <a:lnSpc>
                <a:spcPts val="14223"/>
              </a:lnSpc>
              <a:spcBef>
                <a:spcPct val="0"/>
              </a:spcBef>
            </a:pPr>
            <a:r>
              <a:rPr lang="en-US" sz="13417" dirty="0" smtClean="0">
                <a:solidFill>
                  <a:srgbClr val="FFFFFF"/>
                </a:solidFill>
                <a:latin typeface="Anton"/>
                <a:ea typeface="Anton"/>
                <a:cs typeface="Anton"/>
                <a:sym typeface="Anton"/>
              </a:rPr>
              <a:t>CYBER SECURITY</a:t>
            </a:r>
            <a:endParaRPr lang="en-US" sz="13417" dirty="0">
              <a:solidFill>
                <a:srgbClr val="FFFFFF"/>
              </a:solidFill>
              <a:latin typeface="Anton"/>
              <a:ea typeface="Anton"/>
              <a:cs typeface="Anton"/>
              <a:sym typeface="Anton"/>
            </a:endParaRPr>
          </a:p>
        </p:txBody>
      </p:sp>
      <p:sp>
        <p:nvSpPr>
          <p:cNvPr id="16" name="TextBox 16"/>
          <p:cNvSpPr txBox="1"/>
          <p:nvPr/>
        </p:nvSpPr>
        <p:spPr>
          <a:xfrm>
            <a:off x="4343400" y="5957696"/>
            <a:ext cx="8635640" cy="699550"/>
          </a:xfrm>
          <a:prstGeom prst="rect">
            <a:avLst/>
          </a:prstGeom>
        </p:spPr>
        <p:txBody>
          <a:bodyPr wrap="square" lIns="0" tIns="0" rIns="0" bIns="0" rtlCol="0" anchor="t">
            <a:spAutoFit/>
          </a:bodyPr>
          <a:lstStyle/>
          <a:p>
            <a:pPr algn="ctr">
              <a:lnSpc>
                <a:spcPts val="2494"/>
              </a:lnSpc>
              <a:spcBef>
                <a:spcPct val="0"/>
              </a:spcBef>
            </a:pPr>
            <a:r>
              <a:rPr lang="en-US" sz="3600" b="1" dirty="0"/>
              <a:t>Presented to </a:t>
            </a:r>
            <a:r>
              <a:rPr lang="en-US" sz="3600" b="1" dirty="0" smtClean="0"/>
              <a:t>Prof. </a:t>
            </a:r>
            <a:r>
              <a:rPr lang="en-US" sz="3600" b="1" dirty="0"/>
              <a:t>Mohamed </a:t>
            </a:r>
            <a:r>
              <a:rPr lang="en-US" sz="3600" b="1" dirty="0" smtClean="0"/>
              <a:t>Abdel Hamid</a:t>
            </a:r>
          </a:p>
          <a:p>
            <a:pPr algn="ctr">
              <a:lnSpc>
                <a:spcPts val="2494"/>
              </a:lnSpc>
              <a:spcBef>
                <a:spcPct val="0"/>
              </a:spcBef>
            </a:pPr>
            <a:endParaRPr lang="en-US" sz="3600" b="1" spc="609" dirty="0">
              <a:solidFill>
                <a:srgbClr val="FFFFFF"/>
              </a:solidFill>
              <a:latin typeface="TT Lakes Neue"/>
              <a:ea typeface="TT Lakes Neue"/>
              <a:cs typeface="TT Lakes Neue"/>
              <a:sym typeface="TT Lakes Neue"/>
            </a:endParaRPr>
          </a:p>
        </p:txBody>
      </p:sp>
      <p:sp>
        <p:nvSpPr>
          <p:cNvPr id="17" name="TextBox 17"/>
          <p:cNvSpPr txBox="1"/>
          <p:nvPr/>
        </p:nvSpPr>
        <p:spPr>
          <a:xfrm>
            <a:off x="16656616" y="9872467"/>
            <a:ext cx="1205367" cy="192958"/>
          </a:xfrm>
          <a:prstGeom prst="rect">
            <a:avLst/>
          </a:prstGeom>
        </p:spPr>
        <p:txBody>
          <a:bodyPr lIns="0" tIns="0" rIns="0" bIns="0" rtlCol="0" anchor="t">
            <a:spAutoFit/>
          </a:bodyPr>
          <a:lstStyle/>
          <a:p>
            <a:pPr algn="ctr">
              <a:lnSpc>
                <a:spcPts val="1551"/>
              </a:lnSpc>
              <a:spcBef>
                <a:spcPct val="0"/>
              </a:spcBef>
            </a:pPr>
            <a:r>
              <a:rPr lang="en-US" sz="1463" b="1" spc="379">
                <a:solidFill>
                  <a:srgbClr val="FFFFFF"/>
                </a:solidFill>
                <a:latin typeface="TT Lakes Neue Bold"/>
                <a:ea typeface="TT Lakes Neue Bold"/>
                <a:cs typeface="TT Lakes Neue Bold"/>
                <a:sym typeface="TT Lakes Neue Bold"/>
              </a:rPr>
              <a:t>PAGE 1</a:t>
            </a:r>
          </a:p>
        </p:txBody>
      </p:sp>
      <p:pic>
        <p:nvPicPr>
          <p:cNvPr id="23" name="Picture 2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4200" y="3609615"/>
            <a:ext cx="2438400" cy="2438400"/>
          </a:xfrm>
          <a:prstGeom prst="rect">
            <a:avLst/>
          </a:prstGeom>
        </p:spPr>
      </p:pic>
      <p:sp>
        <p:nvSpPr>
          <p:cNvPr id="27" name="TextBox 16"/>
          <p:cNvSpPr txBox="1"/>
          <p:nvPr/>
        </p:nvSpPr>
        <p:spPr>
          <a:xfrm>
            <a:off x="4452761" y="6334267"/>
            <a:ext cx="8635640" cy="374911"/>
          </a:xfrm>
          <a:prstGeom prst="rect">
            <a:avLst/>
          </a:prstGeom>
        </p:spPr>
        <p:txBody>
          <a:bodyPr wrap="square" lIns="0" tIns="0" rIns="0" bIns="0" rtlCol="0" anchor="t">
            <a:spAutoFit/>
          </a:bodyPr>
          <a:lstStyle/>
          <a:p>
            <a:pPr algn="ctr">
              <a:lnSpc>
                <a:spcPts val="2494"/>
              </a:lnSpc>
              <a:spcBef>
                <a:spcPct val="0"/>
              </a:spcBef>
            </a:pPr>
            <a:r>
              <a:rPr lang="en-US" sz="3600" b="1" dirty="0"/>
              <a:t>Presented </a:t>
            </a:r>
            <a:r>
              <a:rPr lang="en-US" sz="3600" b="1" dirty="0" smtClean="0"/>
              <a:t>to Eng. </a:t>
            </a:r>
            <a:r>
              <a:rPr lang="en-US" sz="3600" b="1" dirty="0" err="1" smtClean="0"/>
              <a:t>Tasneem</a:t>
            </a:r>
            <a:r>
              <a:rPr lang="en-US" sz="3600" b="1" dirty="0" smtClean="0"/>
              <a:t> </a:t>
            </a:r>
            <a:endParaRPr lang="en-US" sz="3600" b="1" spc="609" dirty="0">
              <a:solidFill>
                <a:srgbClr val="FFFFFF"/>
              </a:solidFill>
              <a:latin typeface="TT Lakes Neue"/>
              <a:ea typeface="TT Lakes Neue"/>
              <a:cs typeface="TT Lakes Neue"/>
              <a:sym typeface="TT Lakes Neue"/>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00" y="-2540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2573000" y="1602999"/>
            <a:ext cx="18387059" cy="3515099"/>
            <a:chOff x="0" y="0"/>
            <a:chExt cx="4842682" cy="925787"/>
          </a:xfrm>
        </p:grpSpPr>
        <p:sp>
          <p:nvSpPr>
            <p:cNvPr id="12" name="Freeform 12"/>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sp>
        <p:nvSpPr>
          <p:cNvPr id="18" name="TextBox 18"/>
          <p:cNvSpPr txBox="1"/>
          <p:nvPr/>
        </p:nvSpPr>
        <p:spPr>
          <a:xfrm>
            <a:off x="304800" y="3265749"/>
            <a:ext cx="5063638" cy="334259"/>
          </a:xfrm>
          <a:prstGeom prst="rect">
            <a:avLst/>
          </a:prstGeom>
        </p:spPr>
        <p:txBody>
          <a:bodyPr wrap="square" lIns="0" tIns="0" rIns="0" bIns="0" rtlCol="0" anchor="t">
            <a:spAutoFit/>
          </a:bodyPr>
          <a:lstStyle/>
          <a:p>
            <a:pPr algn="l">
              <a:lnSpc>
                <a:spcPts val="2212"/>
              </a:lnSpc>
              <a:spcBef>
                <a:spcPct val="0"/>
              </a:spcBef>
            </a:pPr>
            <a:r>
              <a:rPr lang="en-US" sz="4000" b="1" dirty="0" smtClean="0">
                <a:solidFill>
                  <a:srgbClr val="FFFFFF"/>
                </a:solidFill>
                <a:latin typeface="Raleway"/>
                <a:ea typeface="Raleway"/>
                <a:cs typeface="Raleway"/>
                <a:sym typeface="Raleway"/>
              </a:rPr>
              <a:t>Team of Member :</a:t>
            </a:r>
            <a:endParaRPr lang="en-US" sz="4000" b="1" dirty="0">
              <a:solidFill>
                <a:srgbClr val="FFFFFF"/>
              </a:solidFill>
              <a:latin typeface="Raleway"/>
              <a:ea typeface="Raleway"/>
              <a:cs typeface="Raleway"/>
              <a:sym typeface="Raleway"/>
            </a:endParaRPr>
          </a:p>
        </p:txBody>
      </p:sp>
      <p:sp>
        <p:nvSpPr>
          <p:cNvPr id="21" name="TextBox 21"/>
          <p:cNvSpPr txBox="1"/>
          <p:nvPr/>
        </p:nvSpPr>
        <p:spPr>
          <a:xfrm>
            <a:off x="16656616" y="9872467"/>
            <a:ext cx="1205367" cy="192958"/>
          </a:xfrm>
          <a:prstGeom prst="rect">
            <a:avLst/>
          </a:prstGeom>
        </p:spPr>
        <p:txBody>
          <a:bodyPr lIns="0" tIns="0" rIns="0" bIns="0" rtlCol="0" anchor="t">
            <a:spAutoFit/>
          </a:bodyPr>
          <a:lstStyle/>
          <a:p>
            <a:pPr algn="ctr">
              <a:lnSpc>
                <a:spcPts val="1551"/>
              </a:lnSpc>
              <a:spcBef>
                <a:spcPct val="0"/>
              </a:spcBef>
            </a:pPr>
            <a:r>
              <a:rPr lang="en-US" sz="1463" b="1" spc="379">
                <a:solidFill>
                  <a:srgbClr val="FFFFFF"/>
                </a:solidFill>
                <a:latin typeface="TT Lakes Neue Bold"/>
                <a:ea typeface="TT Lakes Neue Bold"/>
                <a:cs typeface="TT Lakes Neue Bold"/>
                <a:sym typeface="TT Lakes Neue Bold"/>
              </a:rPr>
              <a:t>PAGE 2</a:t>
            </a:r>
          </a:p>
        </p:txBody>
      </p:sp>
      <p:sp>
        <p:nvSpPr>
          <p:cNvPr id="27" name="TextBox 27"/>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dirty="0">
                <a:solidFill>
                  <a:srgbClr val="FFFFFF"/>
                </a:solidFill>
                <a:latin typeface="TT Lakes Neue"/>
                <a:ea typeface="TT Lakes Neue"/>
                <a:cs typeface="TT Lakes Neue"/>
                <a:sym typeface="TT Lakes Neue"/>
              </a:rPr>
              <a:t>www.reallygreatsite.com</a:t>
            </a:r>
          </a:p>
        </p:txBody>
      </p:sp>
      <p:sp>
        <p:nvSpPr>
          <p:cNvPr id="39" name="TextBox 19"/>
          <p:cNvSpPr txBox="1"/>
          <p:nvPr/>
        </p:nvSpPr>
        <p:spPr>
          <a:xfrm>
            <a:off x="663827" y="6438900"/>
            <a:ext cx="4530707" cy="1410643"/>
          </a:xfrm>
          <a:prstGeom prst="rect">
            <a:avLst/>
          </a:prstGeom>
        </p:spPr>
        <p:txBody>
          <a:bodyPr wrap="square" lIns="0" tIns="0" rIns="0" bIns="0" rtlCol="0" anchor="t">
            <a:spAutoFit/>
          </a:bodyPr>
          <a:lstStyle/>
          <a:p>
            <a:pPr>
              <a:lnSpc>
                <a:spcPts val="2212"/>
              </a:lnSpc>
              <a:spcBef>
                <a:spcPct val="0"/>
              </a:spcBef>
            </a:pPr>
            <a:r>
              <a:rPr lang="en-US" sz="2000" b="1" dirty="0" smtClean="0">
                <a:solidFill>
                  <a:srgbClr val="FFFFFF"/>
                </a:solidFill>
                <a:latin typeface="+mj-lt"/>
                <a:ea typeface="Raleway"/>
                <a:cs typeface="Raleway"/>
                <a:sym typeface="Raleway"/>
              </a:rPr>
              <a:t>1-Amr </a:t>
            </a:r>
            <a:r>
              <a:rPr lang="en-US" sz="2000" b="1" dirty="0" err="1">
                <a:solidFill>
                  <a:srgbClr val="FFFFFF"/>
                </a:solidFill>
                <a:latin typeface="+mj-lt"/>
                <a:ea typeface="Raleway"/>
                <a:cs typeface="Raleway"/>
                <a:sym typeface="Raleway"/>
              </a:rPr>
              <a:t>Abdelsamea</a:t>
            </a:r>
            <a:r>
              <a:rPr lang="en-US" sz="2000" b="1" dirty="0">
                <a:solidFill>
                  <a:srgbClr val="FFFFFF"/>
                </a:solidFill>
                <a:latin typeface="+mj-lt"/>
                <a:ea typeface="Raleway"/>
                <a:cs typeface="Raleway"/>
                <a:sym typeface="Raleway"/>
              </a:rPr>
              <a:t> </a:t>
            </a:r>
            <a:r>
              <a:rPr lang="en-US" sz="2000" b="1" dirty="0" err="1" smtClean="0">
                <a:solidFill>
                  <a:srgbClr val="FFFFFF"/>
                </a:solidFill>
                <a:latin typeface="+mj-lt"/>
                <a:ea typeface="Raleway"/>
                <a:cs typeface="Raleway"/>
                <a:sym typeface="Raleway"/>
              </a:rPr>
              <a:t>Mahrous</a:t>
            </a:r>
            <a:endParaRPr lang="en-US" sz="2000" b="1" dirty="0">
              <a:solidFill>
                <a:srgbClr val="FFFFFF"/>
              </a:solidFill>
              <a:latin typeface="+mj-lt"/>
              <a:ea typeface="Raleway"/>
              <a:cs typeface="Raleway"/>
              <a:sym typeface="Raleway"/>
            </a:endParaRPr>
          </a:p>
          <a:p>
            <a:pPr>
              <a:lnSpc>
                <a:spcPts val="2212"/>
              </a:lnSpc>
              <a:spcBef>
                <a:spcPct val="0"/>
              </a:spcBef>
            </a:pPr>
            <a:r>
              <a:rPr lang="en-US" sz="2000" b="1" dirty="0" smtClean="0">
                <a:solidFill>
                  <a:srgbClr val="FFFFFF"/>
                </a:solidFill>
                <a:latin typeface="+mj-lt"/>
                <a:ea typeface="Raleway"/>
                <a:cs typeface="Raleway"/>
                <a:sym typeface="Raleway"/>
              </a:rPr>
              <a:t>2-Mohamed </a:t>
            </a:r>
            <a:r>
              <a:rPr lang="en-US" sz="2000" b="1" dirty="0">
                <a:solidFill>
                  <a:srgbClr val="FFFFFF"/>
                </a:solidFill>
                <a:latin typeface="+mj-lt"/>
                <a:ea typeface="Raleway"/>
                <a:cs typeface="Raleway"/>
                <a:sym typeface="Raleway"/>
              </a:rPr>
              <a:t>Mahmoud Saber</a:t>
            </a:r>
          </a:p>
          <a:p>
            <a:pPr>
              <a:lnSpc>
                <a:spcPts val="2212"/>
              </a:lnSpc>
              <a:spcBef>
                <a:spcPct val="0"/>
              </a:spcBef>
            </a:pPr>
            <a:r>
              <a:rPr lang="en-US" sz="2000" b="1" dirty="0" smtClean="0">
                <a:solidFill>
                  <a:srgbClr val="FFFFFF"/>
                </a:solidFill>
                <a:latin typeface="+mj-lt"/>
                <a:ea typeface="Raleway"/>
                <a:cs typeface="Raleway"/>
                <a:sym typeface="Raleway"/>
              </a:rPr>
              <a:t>3-Mostafa </a:t>
            </a:r>
            <a:r>
              <a:rPr lang="en-US" sz="2000" b="1" dirty="0">
                <a:solidFill>
                  <a:srgbClr val="FFFFFF"/>
                </a:solidFill>
                <a:latin typeface="+mj-lt"/>
                <a:ea typeface="Raleway"/>
                <a:cs typeface="Raleway"/>
                <a:sym typeface="Raleway"/>
              </a:rPr>
              <a:t>Hany Ahmed</a:t>
            </a:r>
          </a:p>
          <a:p>
            <a:pPr>
              <a:lnSpc>
                <a:spcPts val="2212"/>
              </a:lnSpc>
              <a:spcBef>
                <a:spcPct val="0"/>
              </a:spcBef>
            </a:pPr>
            <a:r>
              <a:rPr lang="en-US" sz="2000" b="1" dirty="0" smtClean="0">
                <a:solidFill>
                  <a:srgbClr val="FFFFFF"/>
                </a:solidFill>
                <a:latin typeface="+mj-lt"/>
                <a:ea typeface="Raleway"/>
                <a:cs typeface="Raleway"/>
                <a:sym typeface="Raleway"/>
              </a:rPr>
              <a:t>4-Shaza EL</a:t>
            </a:r>
            <a:r>
              <a:rPr lang="ar-EG" sz="2000" b="1" dirty="0">
                <a:solidFill>
                  <a:srgbClr val="FFFFFF"/>
                </a:solidFill>
                <a:latin typeface="+mj-lt"/>
                <a:ea typeface="Raleway"/>
                <a:cs typeface="Raleway"/>
                <a:sym typeface="Raleway"/>
              </a:rPr>
              <a:t>-</a:t>
            </a:r>
            <a:r>
              <a:rPr lang="en-US" sz="2000" b="1" dirty="0" err="1" smtClean="0">
                <a:solidFill>
                  <a:srgbClr val="FFFFFF"/>
                </a:solidFill>
                <a:latin typeface="+mj-lt"/>
                <a:ea typeface="Raleway"/>
                <a:cs typeface="Raleway"/>
                <a:sym typeface="Raleway"/>
              </a:rPr>
              <a:t>wazzan</a:t>
            </a:r>
            <a:endParaRPr lang="en-US" sz="2000" b="1" dirty="0">
              <a:solidFill>
                <a:srgbClr val="FFFFFF"/>
              </a:solidFill>
              <a:latin typeface="+mj-lt"/>
              <a:ea typeface="Raleway"/>
              <a:cs typeface="Raleway"/>
              <a:sym typeface="Raleway"/>
            </a:endParaRPr>
          </a:p>
          <a:p>
            <a:pPr>
              <a:lnSpc>
                <a:spcPts val="2212"/>
              </a:lnSpc>
              <a:spcBef>
                <a:spcPct val="0"/>
              </a:spcBef>
            </a:pPr>
            <a:r>
              <a:rPr lang="en-US" sz="2000" b="1" dirty="0" smtClean="0">
                <a:solidFill>
                  <a:srgbClr val="FFFFFF"/>
                </a:solidFill>
                <a:latin typeface="+mj-lt"/>
                <a:ea typeface="Raleway"/>
                <a:cs typeface="Raleway"/>
                <a:sym typeface="Raleway"/>
              </a:rPr>
              <a:t>5-Youssef </a:t>
            </a:r>
            <a:r>
              <a:rPr lang="en-US" sz="2000" b="1" dirty="0" err="1">
                <a:solidFill>
                  <a:srgbClr val="FFFFFF"/>
                </a:solidFill>
                <a:latin typeface="+mj-lt"/>
                <a:ea typeface="Raleway"/>
                <a:cs typeface="Raleway"/>
                <a:sym typeface="Raleway"/>
              </a:rPr>
              <a:t>Abdelhakim</a:t>
            </a:r>
            <a:r>
              <a:rPr lang="en-US" sz="2000" b="1" dirty="0">
                <a:solidFill>
                  <a:srgbClr val="FFFFFF"/>
                </a:solidFill>
                <a:latin typeface="+mj-lt"/>
                <a:ea typeface="Raleway"/>
                <a:cs typeface="Raleway"/>
                <a:sym typeface="Raleway"/>
              </a:rPr>
              <a:t> </a:t>
            </a:r>
            <a:r>
              <a:rPr lang="en-US" sz="2000" b="1" dirty="0" err="1">
                <a:solidFill>
                  <a:srgbClr val="FFFFFF"/>
                </a:solidFill>
                <a:latin typeface="+mj-lt"/>
                <a:ea typeface="Raleway"/>
                <a:cs typeface="Raleway"/>
                <a:sym typeface="Raleway"/>
              </a:rPr>
              <a:t>Tayea</a:t>
            </a:r>
            <a:endParaRPr lang="en-US" sz="2000" b="1" dirty="0">
              <a:solidFill>
                <a:srgbClr val="FFFFFF"/>
              </a:solidFill>
              <a:latin typeface="+mj-lt"/>
              <a:ea typeface="Raleway"/>
              <a:cs typeface="Raleway"/>
              <a:sym typeface="Raleway"/>
            </a:endParaRPr>
          </a:p>
        </p:txBody>
      </p:sp>
      <p:grpSp>
        <p:nvGrpSpPr>
          <p:cNvPr id="42" name="Group 11"/>
          <p:cNvGrpSpPr/>
          <p:nvPr/>
        </p:nvGrpSpPr>
        <p:grpSpPr>
          <a:xfrm rot="10800000">
            <a:off x="11430000" y="1603000"/>
            <a:ext cx="18387059" cy="3515099"/>
            <a:chOff x="0" y="0"/>
            <a:chExt cx="4842682" cy="925787"/>
          </a:xfrm>
        </p:grpSpPr>
        <p:sp>
          <p:nvSpPr>
            <p:cNvPr id="43" name="Freeform 12"/>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sp>
        <p:sp>
          <p:nvSpPr>
            <p:cNvPr id="44" name="TextBox 13"/>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sp>
        <p:nvSpPr>
          <p:cNvPr id="49" name="TextBox 18"/>
          <p:cNvSpPr txBox="1"/>
          <p:nvPr/>
        </p:nvSpPr>
        <p:spPr>
          <a:xfrm>
            <a:off x="13425481" y="3049481"/>
            <a:ext cx="5063638" cy="334259"/>
          </a:xfrm>
          <a:prstGeom prst="rect">
            <a:avLst/>
          </a:prstGeom>
        </p:spPr>
        <p:txBody>
          <a:bodyPr wrap="square" lIns="0" tIns="0" rIns="0" bIns="0" rtlCol="0" anchor="t">
            <a:spAutoFit/>
          </a:bodyPr>
          <a:lstStyle/>
          <a:p>
            <a:pPr algn="l">
              <a:lnSpc>
                <a:spcPts val="2212"/>
              </a:lnSpc>
              <a:spcBef>
                <a:spcPct val="0"/>
              </a:spcBef>
            </a:pPr>
            <a:r>
              <a:rPr lang="en-US" sz="4000" b="1" dirty="0" smtClean="0">
                <a:solidFill>
                  <a:srgbClr val="FFFFFF"/>
                </a:solidFill>
                <a:latin typeface="Raleway"/>
                <a:ea typeface="Raleway"/>
                <a:cs typeface="Raleway"/>
                <a:sym typeface="Raleway"/>
              </a:rPr>
              <a:t>Agenda</a:t>
            </a:r>
            <a:endParaRPr lang="en-US" sz="4000" b="1" dirty="0">
              <a:solidFill>
                <a:srgbClr val="FFFFFF"/>
              </a:solidFill>
              <a:latin typeface="Raleway"/>
              <a:ea typeface="Raleway"/>
              <a:cs typeface="Raleway"/>
              <a:sym typeface="Raleway"/>
            </a:endParaRPr>
          </a:p>
        </p:txBody>
      </p:sp>
      <p:sp>
        <p:nvSpPr>
          <p:cNvPr id="50" name="TextBox 19"/>
          <p:cNvSpPr txBox="1"/>
          <p:nvPr/>
        </p:nvSpPr>
        <p:spPr>
          <a:xfrm>
            <a:off x="13030200" y="6286500"/>
            <a:ext cx="4530707" cy="1692771"/>
          </a:xfrm>
          <a:prstGeom prst="rect">
            <a:avLst/>
          </a:prstGeom>
        </p:spPr>
        <p:txBody>
          <a:bodyPr wrap="square" lIns="0" tIns="0" rIns="0" bIns="0" rtlCol="0" anchor="t">
            <a:spAutoFit/>
          </a:bodyPr>
          <a:lstStyle/>
          <a:p>
            <a:pPr>
              <a:lnSpc>
                <a:spcPts val="2212"/>
              </a:lnSpc>
              <a:spcBef>
                <a:spcPct val="0"/>
              </a:spcBef>
            </a:pPr>
            <a:r>
              <a:rPr lang="en-US" sz="2000" b="1" dirty="0">
                <a:solidFill>
                  <a:srgbClr val="FFFFFF"/>
                </a:solidFill>
                <a:latin typeface="+mj-lt"/>
                <a:ea typeface="Raleway"/>
                <a:cs typeface="Raleway"/>
                <a:sym typeface="Raleway"/>
              </a:rPr>
              <a:t>Introduction to </a:t>
            </a:r>
            <a:r>
              <a:rPr lang="en-US" sz="2000" b="1" dirty="0" smtClean="0">
                <a:solidFill>
                  <a:srgbClr val="FFFFFF"/>
                </a:solidFill>
                <a:latin typeface="+mj-lt"/>
                <a:ea typeface="Raleway"/>
                <a:cs typeface="Raleway"/>
                <a:sym typeface="Raleway"/>
              </a:rPr>
              <a:t>Ciphers</a:t>
            </a:r>
          </a:p>
          <a:p>
            <a:pPr>
              <a:lnSpc>
                <a:spcPts val="2212"/>
              </a:lnSpc>
              <a:spcBef>
                <a:spcPct val="0"/>
              </a:spcBef>
            </a:pPr>
            <a:r>
              <a:rPr lang="en-US" sz="2000" b="1" dirty="0" smtClean="0">
                <a:solidFill>
                  <a:srgbClr val="FFFFFF"/>
                </a:solidFill>
                <a:latin typeface="+mj-lt"/>
                <a:ea typeface="Raleway"/>
                <a:cs typeface="Raleway"/>
                <a:sym typeface="Raleway"/>
              </a:rPr>
              <a:t>Types </a:t>
            </a:r>
            <a:r>
              <a:rPr lang="en-US" sz="2000" b="1" dirty="0">
                <a:solidFill>
                  <a:srgbClr val="FFFFFF"/>
                </a:solidFill>
                <a:latin typeface="+mj-lt"/>
                <a:ea typeface="Raleway"/>
                <a:cs typeface="Raleway"/>
                <a:sym typeface="Raleway"/>
              </a:rPr>
              <a:t>of Classical </a:t>
            </a:r>
            <a:r>
              <a:rPr lang="en-US" sz="2000" b="1" dirty="0" smtClean="0">
                <a:solidFill>
                  <a:srgbClr val="FFFFFF"/>
                </a:solidFill>
                <a:latin typeface="+mj-lt"/>
                <a:ea typeface="Raleway"/>
                <a:cs typeface="Raleway"/>
                <a:sym typeface="Raleway"/>
              </a:rPr>
              <a:t>Ciphers</a:t>
            </a:r>
          </a:p>
          <a:p>
            <a:pPr>
              <a:lnSpc>
                <a:spcPts val="2212"/>
              </a:lnSpc>
              <a:spcBef>
                <a:spcPct val="0"/>
              </a:spcBef>
            </a:pPr>
            <a:r>
              <a:rPr lang="en-US" sz="2000" b="1" dirty="0" smtClean="0">
                <a:solidFill>
                  <a:srgbClr val="FFFFFF"/>
                </a:solidFill>
                <a:latin typeface="+mj-lt"/>
                <a:ea typeface="Raleway"/>
                <a:cs typeface="Raleway"/>
                <a:sym typeface="Raleway"/>
              </a:rPr>
              <a:t>Examples </a:t>
            </a:r>
            <a:r>
              <a:rPr lang="en-US" sz="2000" b="1" dirty="0">
                <a:solidFill>
                  <a:srgbClr val="FFFFFF"/>
                </a:solidFill>
                <a:latin typeface="+mj-lt"/>
                <a:ea typeface="Raleway"/>
                <a:cs typeface="Raleway"/>
                <a:sym typeface="Raleway"/>
              </a:rPr>
              <a:t>&amp; Use </a:t>
            </a:r>
            <a:r>
              <a:rPr lang="en-US" sz="2000" b="1" dirty="0" smtClean="0">
                <a:solidFill>
                  <a:srgbClr val="FFFFFF"/>
                </a:solidFill>
                <a:latin typeface="+mj-lt"/>
                <a:ea typeface="Raleway"/>
                <a:cs typeface="Raleway"/>
                <a:sym typeface="Raleway"/>
              </a:rPr>
              <a:t>Cases</a:t>
            </a:r>
          </a:p>
          <a:p>
            <a:pPr>
              <a:lnSpc>
                <a:spcPts val="2212"/>
              </a:lnSpc>
              <a:spcBef>
                <a:spcPct val="0"/>
              </a:spcBef>
            </a:pPr>
            <a:r>
              <a:rPr lang="en-US" sz="2000" b="1" dirty="0" smtClean="0">
                <a:solidFill>
                  <a:srgbClr val="FFFFFF"/>
                </a:solidFill>
                <a:latin typeface="+mj-lt"/>
                <a:ea typeface="Raleway"/>
                <a:cs typeface="Raleway"/>
                <a:sym typeface="Raleway"/>
              </a:rPr>
              <a:t>Comparison</a:t>
            </a:r>
          </a:p>
          <a:p>
            <a:pPr>
              <a:lnSpc>
                <a:spcPts val="2212"/>
              </a:lnSpc>
              <a:spcBef>
                <a:spcPct val="0"/>
              </a:spcBef>
            </a:pPr>
            <a:r>
              <a:rPr lang="en-US" sz="2000" b="1" dirty="0" smtClean="0">
                <a:solidFill>
                  <a:srgbClr val="FFFFFF"/>
                </a:solidFill>
                <a:latin typeface="+mj-lt"/>
                <a:ea typeface="Raleway"/>
                <a:cs typeface="Raleway"/>
                <a:sym typeface="Raleway"/>
              </a:rPr>
              <a:t>Modern Impact</a:t>
            </a:r>
          </a:p>
          <a:p>
            <a:pPr>
              <a:lnSpc>
                <a:spcPts val="2212"/>
              </a:lnSpc>
              <a:spcBef>
                <a:spcPct val="0"/>
              </a:spcBef>
            </a:pPr>
            <a:r>
              <a:rPr lang="en-US" sz="2000" b="1" dirty="0" smtClean="0">
                <a:solidFill>
                  <a:srgbClr val="FFFFFF"/>
                </a:solidFill>
                <a:latin typeface="+mj-lt"/>
                <a:ea typeface="Raleway"/>
                <a:cs typeface="Raleway"/>
                <a:sym typeface="Raleway"/>
              </a:rPr>
              <a:t>Conclusion</a:t>
            </a:r>
            <a:endParaRPr lang="en-US" sz="2000" b="1" dirty="0">
              <a:solidFill>
                <a:srgbClr val="FFFFFF"/>
              </a:solidFill>
              <a:latin typeface="+mj-lt"/>
              <a:ea typeface="Raleway"/>
              <a:cs typeface="Raleway"/>
              <a:sym typeface="Raleway"/>
            </a:endParaRPr>
          </a:p>
        </p:txBody>
      </p:sp>
    </p:spTree>
    <p:extLst>
      <p:ext uri="{BB962C8B-B14F-4D97-AF65-F5344CB8AC3E}">
        <p14:creationId xmlns:p14="http://schemas.microsoft.com/office/powerpoint/2010/main" val="1011491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99"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887200" y="3385950"/>
            <a:ext cx="18387059" cy="3515099"/>
            <a:chOff x="0" y="0"/>
            <a:chExt cx="4842682" cy="925787"/>
          </a:xfrm>
        </p:grpSpPr>
        <p:sp>
          <p:nvSpPr>
            <p:cNvPr id="12" name="Freeform 12"/>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sp>
        <p:nvSpPr>
          <p:cNvPr id="21" name="TextBox 21"/>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3</a:t>
            </a:r>
            <a:endParaRPr lang="en-US" sz="1463" b="1" spc="379" dirty="0">
              <a:solidFill>
                <a:srgbClr val="FFFFFF"/>
              </a:solidFill>
              <a:latin typeface="TT Lakes Neue Bold"/>
              <a:ea typeface="TT Lakes Neue Bold"/>
              <a:cs typeface="TT Lakes Neue Bold"/>
              <a:sym typeface="TT Lakes Neue Bold"/>
            </a:endParaRPr>
          </a:p>
        </p:txBody>
      </p:sp>
      <p:sp>
        <p:nvSpPr>
          <p:cNvPr id="22" name="TextBox 22"/>
          <p:cNvSpPr txBox="1"/>
          <p:nvPr/>
        </p:nvSpPr>
        <p:spPr>
          <a:xfrm>
            <a:off x="1981200" y="4002162"/>
            <a:ext cx="15756838" cy="2282676"/>
          </a:xfrm>
          <a:prstGeom prst="rect">
            <a:avLst/>
          </a:prstGeom>
        </p:spPr>
        <p:txBody>
          <a:bodyPr wrap="square" lIns="0" tIns="0" rIns="0" bIns="0" rtlCol="0" anchor="t">
            <a:spAutoFit/>
          </a:bodyPr>
          <a:lstStyle/>
          <a:p>
            <a:pPr algn="l">
              <a:lnSpc>
                <a:spcPts val="8919"/>
              </a:lnSpc>
              <a:spcBef>
                <a:spcPct val="0"/>
              </a:spcBef>
            </a:pPr>
            <a:r>
              <a:rPr lang="en-US" sz="8414" dirty="0" smtClean="0">
                <a:solidFill>
                  <a:srgbClr val="FFFFFF"/>
                </a:solidFill>
                <a:latin typeface="Anton"/>
                <a:ea typeface="Anton"/>
                <a:cs typeface="Anton"/>
                <a:sym typeface="Anton"/>
              </a:rPr>
              <a:t>Three New algorithms will discuss in discussion</a:t>
            </a:r>
            <a:endParaRPr lang="en-US" sz="8414" dirty="0">
              <a:solidFill>
                <a:srgbClr val="FFFFFF"/>
              </a:solidFill>
              <a:latin typeface="Anton"/>
              <a:ea typeface="Anton"/>
              <a:cs typeface="Anton"/>
              <a:sym typeface="Anton"/>
            </a:endParaRPr>
          </a:p>
        </p:txBody>
      </p:sp>
      <p:grpSp>
        <p:nvGrpSpPr>
          <p:cNvPr id="24" name="Group 24"/>
          <p:cNvGrpSpPr/>
          <p:nvPr/>
        </p:nvGrpSpPr>
        <p:grpSpPr>
          <a:xfrm>
            <a:off x="8763000" y="5524500"/>
            <a:ext cx="2468532" cy="313375"/>
            <a:chOff x="0" y="0"/>
            <a:chExt cx="650148" cy="82535"/>
          </a:xfrm>
        </p:grpSpPr>
        <p:sp>
          <p:nvSpPr>
            <p:cNvPr id="25" name="Freeform 25"/>
            <p:cNvSpPr/>
            <p:nvPr/>
          </p:nvSpPr>
          <p:spPr>
            <a:xfrm>
              <a:off x="0" y="0"/>
              <a:ext cx="650148" cy="82535"/>
            </a:xfrm>
            <a:custGeom>
              <a:avLst/>
              <a:gdLst/>
              <a:ahLst/>
              <a:cxnLst/>
              <a:rect l="l" t="t" r="r" b="b"/>
              <a:pathLst>
                <a:path w="650148" h="82535">
                  <a:moveTo>
                    <a:pt x="0" y="0"/>
                  </a:moveTo>
                  <a:lnTo>
                    <a:pt x="650148" y="0"/>
                  </a:lnTo>
                  <a:lnTo>
                    <a:pt x="650148" y="82535"/>
                  </a:lnTo>
                  <a:lnTo>
                    <a:pt x="0" y="82535"/>
                  </a:lnTo>
                  <a:close/>
                </a:path>
              </a:pathLst>
            </a:custGeom>
            <a:gradFill rotWithShape="1">
              <a:gsLst>
                <a:gs pos="0">
                  <a:srgbClr val="45DEEF">
                    <a:alpha val="100000"/>
                  </a:srgbClr>
                </a:gs>
                <a:gs pos="100000">
                  <a:srgbClr val="0074AD">
                    <a:alpha val="6500"/>
                  </a:srgbClr>
                </a:gs>
              </a:gsLst>
              <a:lin ang="0"/>
            </a:gradFill>
          </p:spPr>
        </p:sp>
        <p:sp>
          <p:nvSpPr>
            <p:cNvPr id="26" name="TextBox 26"/>
            <p:cNvSpPr txBox="1"/>
            <p:nvPr/>
          </p:nvSpPr>
          <p:spPr>
            <a:xfrm>
              <a:off x="0" y="38100"/>
              <a:ext cx="650148" cy="44435"/>
            </a:xfrm>
            <a:prstGeom prst="rect">
              <a:avLst/>
            </a:prstGeom>
          </p:spPr>
          <p:txBody>
            <a:bodyPr lIns="50800" tIns="50800" rIns="50800" bIns="50800" rtlCol="0" anchor="ctr"/>
            <a:lstStyle/>
            <a:p>
              <a:pPr algn="ctr">
                <a:lnSpc>
                  <a:spcPts val="2473"/>
                </a:lnSpc>
              </a:pPr>
              <a:endParaRPr/>
            </a:p>
          </p:txBody>
        </p:sp>
      </p:grpSp>
    </p:spTree>
    <p:extLst>
      <p:ext uri="{BB962C8B-B14F-4D97-AF65-F5344CB8AC3E}">
        <p14:creationId xmlns:p14="http://schemas.microsoft.com/office/powerpoint/2010/main" val="20698868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99"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96079" y="2182140"/>
            <a:ext cx="18387059" cy="3515099"/>
            <a:chOff x="0" y="0"/>
            <a:chExt cx="4842682" cy="925787"/>
          </a:xfrm>
        </p:grpSpPr>
        <p:sp>
          <p:nvSpPr>
            <p:cNvPr id="12" name="Freeform 12"/>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grpSp>
        <p:nvGrpSpPr>
          <p:cNvPr id="14" name="Group 14"/>
          <p:cNvGrpSpPr/>
          <p:nvPr/>
        </p:nvGrpSpPr>
        <p:grpSpPr>
          <a:xfrm>
            <a:off x="1845362" y="4661561"/>
            <a:ext cx="6397172" cy="4061629"/>
            <a:chOff x="0" y="0"/>
            <a:chExt cx="991089" cy="629253"/>
          </a:xfrm>
        </p:grpSpPr>
        <p:sp>
          <p:nvSpPr>
            <p:cNvPr id="15" name="Freeform 15"/>
            <p:cNvSpPr/>
            <p:nvPr/>
          </p:nvSpPr>
          <p:spPr>
            <a:xfrm>
              <a:off x="0" y="0"/>
              <a:ext cx="991089" cy="629253"/>
            </a:xfrm>
            <a:custGeom>
              <a:avLst/>
              <a:gdLst/>
              <a:ahLst/>
              <a:cxnLst/>
              <a:rect l="l" t="t" r="r" b="b"/>
              <a:pathLst>
                <a:path w="991089" h="629253">
                  <a:moveTo>
                    <a:pt x="0" y="0"/>
                  </a:moveTo>
                  <a:lnTo>
                    <a:pt x="991089" y="0"/>
                  </a:lnTo>
                  <a:lnTo>
                    <a:pt x="991089" y="629253"/>
                  </a:lnTo>
                  <a:lnTo>
                    <a:pt x="0" y="629253"/>
                  </a:lnTo>
                  <a:close/>
                </a:path>
              </a:pathLst>
            </a:custGeom>
            <a:blipFill>
              <a:blip r:embed="rId7"/>
              <a:stretch>
                <a:fillRect t="-2468" b="-2468"/>
              </a:stretch>
            </a:blipFill>
            <a:ln w="38100" cap="sq">
              <a:gradFill>
                <a:gsLst>
                  <a:gs pos="0">
                    <a:srgbClr val="45DEEF">
                      <a:alpha val="100000"/>
                    </a:srgbClr>
                  </a:gs>
                  <a:gs pos="100000">
                    <a:srgbClr val="0074AD">
                      <a:alpha val="6500"/>
                    </a:srgbClr>
                  </a:gs>
                </a:gsLst>
                <a:lin ang="0"/>
              </a:gradFill>
              <a:prstDash val="solid"/>
              <a:miter/>
            </a:ln>
          </p:spPr>
        </p:sp>
      </p:grpSp>
      <p:sp>
        <p:nvSpPr>
          <p:cNvPr id="21" name="TextBox 21"/>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4</a:t>
            </a:r>
            <a:endParaRPr lang="en-US" sz="1463" b="1" spc="379" dirty="0">
              <a:solidFill>
                <a:srgbClr val="FFFFFF"/>
              </a:solidFill>
              <a:latin typeface="TT Lakes Neue Bold"/>
              <a:ea typeface="TT Lakes Neue Bold"/>
              <a:cs typeface="TT Lakes Neue Bold"/>
              <a:sym typeface="TT Lakes Neue Bold"/>
            </a:endParaRPr>
          </a:p>
        </p:txBody>
      </p:sp>
      <p:sp>
        <p:nvSpPr>
          <p:cNvPr id="22" name="TextBox 22"/>
          <p:cNvSpPr txBox="1"/>
          <p:nvPr/>
        </p:nvSpPr>
        <p:spPr>
          <a:xfrm>
            <a:off x="1845362" y="2840654"/>
            <a:ext cx="7068313" cy="1141338"/>
          </a:xfrm>
          <a:prstGeom prst="rect">
            <a:avLst/>
          </a:prstGeom>
        </p:spPr>
        <p:txBody>
          <a:bodyPr lIns="0" tIns="0" rIns="0" bIns="0" rtlCol="0" anchor="t">
            <a:spAutoFit/>
          </a:bodyPr>
          <a:lstStyle/>
          <a:p>
            <a:pPr algn="l">
              <a:lnSpc>
                <a:spcPts val="8919"/>
              </a:lnSpc>
              <a:spcBef>
                <a:spcPct val="0"/>
              </a:spcBef>
            </a:pPr>
            <a:r>
              <a:rPr lang="en-US" sz="8414" dirty="0" smtClean="0">
                <a:solidFill>
                  <a:srgbClr val="FFFFFF"/>
                </a:solidFill>
                <a:latin typeface="Anton"/>
                <a:ea typeface="Anton"/>
                <a:cs typeface="Anton"/>
                <a:sym typeface="Anton"/>
              </a:rPr>
              <a:t>WHAT IS CIPHER?</a:t>
            </a:r>
            <a:endParaRPr lang="en-US" sz="8414" dirty="0">
              <a:solidFill>
                <a:srgbClr val="FFFFFF"/>
              </a:solidFill>
              <a:latin typeface="Anton"/>
              <a:ea typeface="Anton"/>
              <a:cs typeface="Anton"/>
              <a:sym typeface="Anton"/>
            </a:endParaRPr>
          </a:p>
        </p:txBody>
      </p:sp>
      <p:sp>
        <p:nvSpPr>
          <p:cNvPr id="23" name="TextBox 23"/>
          <p:cNvSpPr txBox="1"/>
          <p:nvPr/>
        </p:nvSpPr>
        <p:spPr>
          <a:xfrm>
            <a:off x="9468359" y="4457404"/>
            <a:ext cx="6853407" cy="2821285"/>
          </a:xfrm>
          <a:prstGeom prst="rect">
            <a:avLst/>
          </a:prstGeom>
        </p:spPr>
        <p:txBody>
          <a:bodyPr lIns="0" tIns="0" rIns="0" bIns="0" rtlCol="0" anchor="t">
            <a:spAutoFit/>
          </a:bodyPr>
          <a:lstStyle/>
          <a:p>
            <a:pPr>
              <a:lnSpc>
                <a:spcPts val="2212"/>
              </a:lnSpc>
              <a:spcBef>
                <a:spcPct val="0"/>
              </a:spcBef>
            </a:pPr>
            <a:r>
              <a:rPr lang="en-US" sz="2000" dirty="0">
                <a:solidFill>
                  <a:srgbClr val="FFFFFF"/>
                </a:solidFill>
                <a:latin typeface="Raleway"/>
                <a:ea typeface="Raleway"/>
                <a:cs typeface="Raleway"/>
                <a:sym typeface="Raleway"/>
              </a:rPr>
              <a:t>A cipher is a method used to encrypt and decrypt information, transforming readable text (plaintext) into unreadable text (</a:t>
            </a:r>
            <a:r>
              <a:rPr lang="en-US" sz="2000" dirty="0" err="1">
                <a:solidFill>
                  <a:srgbClr val="FFFFFF"/>
                </a:solidFill>
                <a:latin typeface="Raleway"/>
                <a:ea typeface="Raleway"/>
                <a:cs typeface="Raleway"/>
                <a:sym typeface="Raleway"/>
              </a:rPr>
              <a:t>ciphertext</a:t>
            </a:r>
            <a:r>
              <a:rPr lang="en-US" sz="2000" dirty="0">
                <a:solidFill>
                  <a:srgbClr val="FFFFFF"/>
                </a:solidFill>
                <a:latin typeface="Raleway"/>
                <a:ea typeface="Raleway"/>
                <a:cs typeface="Raleway"/>
                <a:sym typeface="Raleway"/>
              </a:rPr>
              <a:t>) using a specific algorithm and key. Ciphers are a core part of cryptography and are used to protect the privacy and security of data during communication. Unlike codes, which work on the meaning of words, ciphers operate on individual letters or bits. Classical ciphers such as Caesar, </a:t>
            </a:r>
            <a:r>
              <a:rPr lang="en-US" sz="2000" dirty="0" err="1">
                <a:solidFill>
                  <a:srgbClr val="FFFFFF"/>
                </a:solidFill>
                <a:latin typeface="Raleway"/>
                <a:ea typeface="Raleway"/>
                <a:cs typeface="Raleway"/>
                <a:sym typeface="Raleway"/>
              </a:rPr>
              <a:t>Vigenère</a:t>
            </a:r>
            <a:r>
              <a:rPr lang="en-US" sz="2000" dirty="0">
                <a:solidFill>
                  <a:srgbClr val="FFFFFF"/>
                </a:solidFill>
                <a:latin typeface="Raleway"/>
                <a:ea typeface="Raleway"/>
                <a:cs typeface="Raleway"/>
                <a:sym typeface="Raleway"/>
              </a:rPr>
              <a:t>, and </a:t>
            </a:r>
            <a:r>
              <a:rPr lang="en-US" sz="2000" dirty="0" err="1">
                <a:solidFill>
                  <a:srgbClr val="FFFFFF"/>
                </a:solidFill>
                <a:latin typeface="Raleway"/>
                <a:ea typeface="Raleway"/>
                <a:cs typeface="Raleway"/>
                <a:sym typeface="Raleway"/>
              </a:rPr>
              <a:t>Playfair</a:t>
            </a:r>
            <a:r>
              <a:rPr lang="en-US" sz="2000" dirty="0">
                <a:solidFill>
                  <a:srgbClr val="FFFFFF"/>
                </a:solidFill>
                <a:latin typeface="Raleway"/>
                <a:ea typeface="Raleway"/>
                <a:cs typeface="Raleway"/>
                <a:sym typeface="Raleway"/>
              </a:rPr>
              <a:t> laid the foundation for modern encryption methods used today in digital security systems.</a:t>
            </a:r>
          </a:p>
        </p:txBody>
      </p:sp>
      <p:grpSp>
        <p:nvGrpSpPr>
          <p:cNvPr id="24" name="Group 24"/>
          <p:cNvGrpSpPr/>
          <p:nvPr/>
        </p:nvGrpSpPr>
        <p:grpSpPr>
          <a:xfrm>
            <a:off x="9468359" y="7607579"/>
            <a:ext cx="2468532" cy="313375"/>
            <a:chOff x="0" y="0"/>
            <a:chExt cx="650148" cy="82535"/>
          </a:xfrm>
        </p:grpSpPr>
        <p:sp>
          <p:nvSpPr>
            <p:cNvPr id="25" name="Freeform 25"/>
            <p:cNvSpPr/>
            <p:nvPr/>
          </p:nvSpPr>
          <p:spPr>
            <a:xfrm>
              <a:off x="0" y="0"/>
              <a:ext cx="650148" cy="82535"/>
            </a:xfrm>
            <a:custGeom>
              <a:avLst/>
              <a:gdLst/>
              <a:ahLst/>
              <a:cxnLst/>
              <a:rect l="l" t="t" r="r" b="b"/>
              <a:pathLst>
                <a:path w="650148" h="82535">
                  <a:moveTo>
                    <a:pt x="0" y="0"/>
                  </a:moveTo>
                  <a:lnTo>
                    <a:pt x="650148" y="0"/>
                  </a:lnTo>
                  <a:lnTo>
                    <a:pt x="650148" y="82535"/>
                  </a:lnTo>
                  <a:lnTo>
                    <a:pt x="0" y="82535"/>
                  </a:lnTo>
                  <a:close/>
                </a:path>
              </a:pathLst>
            </a:custGeom>
            <a:gradFill rotWithShape="1">
              <a:gsLst>
                <a:gs pos="0">
                  <a:srgbClr val="45DEEF">
                    <a:alpha val="100000"/>
                  </a:srgbClr>
                </a:gs>
                <a:gs pos="100000">
                  <a:srgbClr val="0074AD">
                    <a:alpha val="6500"/>
                  </a:srgbClr>
                </a:gs>
              </a:gsLst>
              <a:lin ang="0"/>
            </a:gradFill>
          </p:spPr>
        </p:sp>
        <p:sp>
          <p:nvSpPr>
            <p:cNvPr id="26" name="TextBox 26"/>
            <p:cNvSpPr txBox="1"/>
            <p:nvPr/>
          </p:nvSpPr>
          <p:spPr>
            <a:xfrm>
              <a:off x="0" y="38100"/>
              <a:ext cx="650148" cy="44435"/>
            </a:xfrm>
            <a:prstGeom prst="rect">
              <a:avLst/>
            </a:prstGeom>
          </p:spPr>
          <p:txBody>
            <a:bodyPr lIns="50800" tIns="50800" rIns="50800" bIns="50800" rtlCol="0" anchor="ctr"/>
            <a:lstStyle/>
            <a:p>
              <a:pPr algn="ctr">
                <a:lnSpc>
                  <a:spcPts val="2473"/>
                </a:lnSpc>
              </a:pPr>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5</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gn="l">
              <a:lnSpc>
                <a:spcPts val="8919"/>
              </a:lnSpc>
              <a:spcBef>
                <a:spcPct val="0"/>
              </a:spcBef>
            </a:pPr>
            <a:r>
              <a:rPr lang="en-US" sz="8414" dirty="0" smtClean="0">
                <a:solidFill>
                  <a:srgbClr val="FFFFFF"/>
                </a:solidFill>
                <a:latin typeface="Anton"/>
                <a:ea typeface="Anton"/>
                <a:cs typeface="Anton"/>
                <a:sym typeface="Anton"/>
              </a:rPr>
              <a:t>CAESAR CIPHER</a:t>
            </a:r>
            <a:endParaRPr lang="en-US" sz="8414" dirty="0">
              <a:solidFill>
                <a:srgbClr val="FFFFFF"/>
              </a:solidFill>
              <a:latin typeface="Anton"/>
              <a:ea typeface="Anton"/>
              <a:cs typeface="Anton"/>
              <a:sym typeface="Anton"/>
            </a:endParaRP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cipher takes readable text (plaintext) and scrambles it into an unreadable form (</a:t>
            </a:r>
            <a:r>
              <a:rPr lang="en-US" sz="1580" dirty="0" err="1">
                <a:solidFill>
                  <a:srgbClr val="FFFFFF"/>
                </a:solidFill>
                <a:latin typeface="Raleway"/>
                <a:ea typeface="Raleway"/>
                <a:cs typeface="Raleway"/>
                <a:sym typeface="Raleway"/>
              </a:rPr>
              <a:t>ciphertext</a:t>
            </a:r>
            <a:r>
              <a:rPr lang="en-US" sz="1580" dirty="0">
                <a:solidFill>
                  <a:srgbClr val="FFFFFF"/>
                </a:solidFill>
                <a:latin typeface="Raleway"/>
                <a:ea typeface="Raleway"/>
                <a:cs typeface="Raleway"/>
                <a:sym typeface="Raleway"/>
              </a:rPr>
              <a:t>) using a defined rule or algorithm.</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1. Encryption – Turning Plain into Secret</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Using the correct key, the </a:t>
            </a:r>
            <a:r>
              <a:rPr lang="en-US" sz="1580" dirty="0" err="1">
                <a:solidFill>
                  <a:srgbClr val="FFFFFF"/>
                </a:solidFill>
                <a:latin typeface="Raleway"/>
                <a:ea typeface="Raleway"/>
                <a:cs typeface="Raleway"/>
                <a:sym typeface="Raleway"/>
              </a:rPr>
              <a:t>ciphertext</a:t>
            </a:r>
            <a:r>
              <a:rPr lang="en-US" sz="1580" dirty="0">
                <a:solidFill>
                  <a:srgbClr val="FFFFFF"/>
                </a:solidFill>
                <a:latin typeface="Raleway"/>
                <a:ea typeface="Raleway"/>
                <a:cs typeface="Raleway"/>
                <a:sym typeface="Raleway"/>
              </a:rPr>
              <a:t> is reversed back into the original readable message (plaintext) by applying the cipher in reverse.</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2. Decryption – Revealing the Message</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83628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strength of a cipher depends on how hard it is to guess or break the key without knowing the encryption method. Stronger keys mean better protection.</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3. Security Through Keys</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20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11022" y="1130355"/>
            <a:ext cx="6685087" cy="393848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11023" y="5265341"/>
            <a:ext cx="6685086" cy="398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6</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547686" y="2844534"/>
            <a:ext cx="9806114" cy="1141338"/>
          </a:xfrm>
          <a:prstGeom prst="rect">
            <a:avLst/>
          </a:prstGeom>
        </p:spPr>
        <p:txBody>
          <a:bodyPr wrap="square" lIns="0" tIns="0" rIns="0" bIns="0" rtlCol="0" anchor="t">
            <a:spAutoFit/>
          </a:bodyPr>
          <a:lstStyle/>
          <a:p>
            <a:pPr>
              <a:lnSpc>
                <a:spcPts val="8919"/>
              </a:lnSpc>
              <a:spcBef>
                <a:spcPct val="0"/>
              </a:spcBef>
            </a:pPr>
            <a:r>
              <a:rPr lang="en-US" sz="8414" dirty="0" smtClean="0">
                <a:solidFill>
                  <a:srgbClr val="FFFFFF"/>
                </a:solidFill>
                <a:latin typeface="Anton"/>
                <a:ea typeface="Anton"/>
                <a:cs typeface="Anton"/>
                <a:sym typeface="Anton"/>
              </a:rPr>
              <a:t>Transposition</a:t>
            </a:r>
            <a:endParaRPr lang="en-US" sz="8414" dirty="0">
              <a:solidFill>
                <a:srgbClr val="FFFFFF"/>
              </a:solidFill>
              <a:latin typeface="Anton"/>
              <a:ea typeface="Anton"/>
              <a:cs typeface="Anton"/>
              <a:sym typeface="Anton"/>
            </a:endParaRPr>
          </a:p>
        </p:txBody>
      </p:sp>
      <p:sp>
        <p:nvSpPr>
          <p:cNvPr id="44" name="TextBox 44"/>
          <p:cNvSpPr txBox="1"/>
          <p:nvPr/>
        </p:nvSpPr>
        <p:spPr>
          <a:xfrm>
            <a:off x="1845362" y="4850884"/>
            <a:ext cx="7065453" cy="82432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Text is written in rows under column headers derived from a keyword. The columns are then rearranged based on the alphabetical order of the keyword.</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1. Reorders Text in a Table</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Characters stay the same but appear in different places, which makes it harder to read without the key.</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2. No Substitution, Only Positioning</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longer the message and more complex the keyword, the harder it becomes to crack. Can be layered with substitution for added security.</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3. Effective with Long Texts</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307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0" y="907071"/>
            <a:ext cx="7086600" cy="394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0" y="5304896"/>
            <a:ext cx="7086600" cy="3648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81881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7</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n-US" sz="8414" dirty="0" err="1">
                <a:solidFill>
                  <a:srgbClr val="FFFFFF"/>
                </a:solidFill>
                <a:latin typeface="Anton"/>
                <a:ea typeface="Anton"/>
                <a:cs typeface="Anton"/>
                <a:sym typeface="Anton"/>
              </a:rPr>
              <a:t>Playfair</a:t>
            </a:r>
            <a:r>
              <a:rPr lang="en-US" sz="8414" dirty="0">
                <a:solidFill>
                  <a:srgbClr val="FFFFFF"/>
                </a:solidFill>
                <a:latin typeface="Anton"/>
                <a:ea typeface="Anton"/>
                <a:cs typeface="Anton"/>
                <a:sym typeface="Anton"/>
              </a:rPr>
              <a:t> Cipher</a:t>
            </a: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Uses a 5x5 matrix of letters built from a keyword. It encrypts digraphs (letter pairs), making it harder to analyze.</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1. Encrypts in Pairs of Letters</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By encrypting pairs, it hides common single-letter frequencies and adds structural complexity to </a:t>
            </a:r>
            <a:r>
              <a:rPr lang="en-US" sz="1580" dirty="0" err="1">
                <a:solidFill>
                  <a:srgbClr val="FFFFFF"/>
                </a:solidFill>
                <a:latin typeface="Raleway"/>
                <a:ea typeface="Raleway"/>
                <a:cs typeface="Raleway"/>
                <a:sym typeface="Raleway"/>
              </a:rPr>
              <a:t>ciphertext</a:t>
            </a:r>
            <a:r>
              <a:rPr lang="en-US" sz="1580" dirty="0">
                <a:solidFill>
                  <a:srgbClr val="FFFFFF"/>
                </a:solidFill>
                <a:latin typeface="Raleway"/>
                <a:ea typeface="Raleway"/>
                <a:cs typeface="Raleway"/>
                <a:sym typeface="Raleway"/>
              </a:rPr>
              <a:t>.</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2. More Secure Than Simple Substitution</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matrix excludes the letter “J” or merges it with “I”, and the arrangement of the keyword determines how encryption is performed.</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3. Keyword Builds the Matrix</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409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87000" y="800006"/>
            <a:ext cx="7443092" cy="4050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87001" y="5164560"/>
            <a:ext cx="7443092" cy="4022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81881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8</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832038" cy="1141338"/>
          </a:xfrm>
          <a:prstGeom prst="rect">
            <a:avLst/>
          </a:prstGeom>
        </p:spPr>
        <p:txBody>
          <a:bodyPr wrap="square" lIns="0" tIns="0" rIns="0" bIns="0" rtlCol="0" anchor="t">
            <a:spAutoFit/>
          </a:bodyPr>
          <a:lstStyle/>
          <a:p>
            <a:pPr>
              <a:lnSpc>
                <a:spcPts val="8919"/>
              </a:lnSpc>
              <a:spcBef>
                <a:spcPct val="0"/>
              </a:spcBef>
            </a:pPr>
            <a:r>
              <a:rPr lang="en-US" sz="8414" dirty="0">
                <a:solidFill>
                  <a:srgbClr val="FFFFFF"/>
                </a:solidFill>
                <a:latin typeface="Anton"/>
                <a:ea typeface="Anton"/>
                <a:cs typeface="Anton"/>
                <a:sym typeface="Anton"/>
              </a:rPr>
              <a:t>Rail Fence Cipher</a:t>
            </a: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Plaintext is written in a zigzag pattern across a set number of rows, then read off row by row to form the </a:t>
            </a:r>
            <a:r>
              <a:rPr lang="en-US" sz="1580" dirty="0" err="1">
                <a:solidFill>
                  <a:srgbClr val="FFFFFF"/>
                </a:solidFill>
                <a:latin typeface="Raleway"/>
                <a:ea typeface="Raleway"/>
                <a:cs typeface="Raleway"/>
                <a:sym typeface="Raleway"/>
              </a:rPr>
              <a:t>ciphertext</a:t>
            </a:r>
            <a:r>
              <a:rPr lang="en-US" sz="1580" dirty="0">
                <a:solidFill>
                  <a:srgbClr val="FFFFFF"/>
                </a:solidFill>
                <a:latin typeface="Raleway"/>
                <a:ea typeface="Raleway"/>
                <a:cs typeface="Raleway"/>
                <a:sym typeface="Raleway"/>
              </a:rPr>
              <a:t>.</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1. Letters Arranged in Zigzag Rows</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No letters are changed, just their positions. It’s easy to encrypt but adds visual confusion to attackers.</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2. A Simple Transposition Cipher</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00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Can be broken by trying different row depths or looking at character distribution. Best used in combination with other ciphers.</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5184088"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3. Weak Security Without Modification</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512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99700" y="551934"/>
            <a:ext cx="7502182" cy="429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99700" y="5121984"/>
            <a:ext cx="7502182" cy="429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81881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9</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n-US" sz="8414" dirty="0">
                <a:solidFill>
                  <a:srgbClr val="FFFFFF"/>
                </a:solidFill>
                <a:latin typeface="Anton"/>
                <a:ea typeface="Anton"/>
                <a:cs typeface="Anton"/>
                <a:sym typeface="Anton"/>
              </a:rPr>
              <a:t>ROT13 </a:t>
            </a:r>
            <a:r>
              <a:rPr lang="en-US" sz="8414" dirty="0" smtClean="0">
                <a:solidFill>
                  <a:srgbClr val="FFFFFF"/>
                </a:solidFill>
                <a:latin typeface="Anton"/>
                <a:ea typeface="Anton"/>
                <a:cs typeface="Anton"/>
                <a:sym typeface="Anton"/>
              </a:rPr>
              <a:t>Cipher	</a:t>
            </a:r>
            <a:endParaRPr lang="en-US" sz="8414" dirty="0">
              <a:solidFill>
                <a:srgbClr val="FFFFFF"/>
              </a:solidFill>
              <a:latin typeface="Anton"/>
              <a:ea typeface="Anton"/>
              <a:cs typeface="Anton"/>
              <a:sym typeface="Anton"/>
            </a:endParaRP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A special Caesar Cipher that shifts all letters by exactly 13 places. Repeating the process returns the original text.</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1. Shifts Letters by 13</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Used to hide spoilers or jokes in forums, since it’s reversible without knowing a key.</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2. Common in Online Communities</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00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As it’s just Caesar with a fixed shift, anyone can decode it instantly — not recommended for protecting information.</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13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3. Not Secure for Real Use</a:t>
            </a:r>
          </a:p>
        </p:txBody>
      </p:sp>
      <p:pic>
        <p:nvPicPr>
          <p:cNvPr id="614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90236" y="2149084"/>
            <a:ext cx="6469063"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90235" y="6056378"/>
            <a:ext cx="6469063" cy="3316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32276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10</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n-US" sz="8414" dirty="0">
                <a:solidFill>
                  <a:srgbClr val="FFFFFF"/>
                </a:solidFill>
                <a:latin typeface="Anton"/>
                <a:ea typeface="Anton"/>
                <a:cs typeface="Anton"/>
                <a:sym typeface="Anton"/>
              </a:rPr>
              <a:t>Reverse Cipher</a:t>
            </a:r>
          </a:p>
        </p:txBody>
      </p:sp>
      <p:sp>
        <p:nvSpPr>
          <p:cNvPr id="44" name="TextBox 44"/>
          <p:cNvSpPr txBox="1"/>
          <p:nvPr/>
        </p:nvSpPr>
        <p:spPr>
          <a:xfrm>
            <a:off x="1845362" y="4850884"/>
            <a:ext cx="7065453" cy="82432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Reverse Cipher simply flips the plaintext backward — the last letter becomes the first, and the first becomes the last. For example, HELLO becomes OLLEH.</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33425"/>
          </a:xfrm>
          <a:prstGeom prst="rect">
            <a:avLst/>
          </a:prstGeom>
        </p:spPr>
        <p:txBody>
          <a:bodyPr wrap="square" lIns="0" tIns="0" rIns="0" bIns="0" rtlCol="0" anchor="t">
            <a:spAutoFit/>
          </a:bodyPr>
          <a:lstStyle/>
          <a:p>
            <a:pPr>
              <a:lnSpc>
                <a:spcPts val="2631"/>
              </a:lnSpc>
              <a:spcBef>
                <a:spcPct val="0"/>
              </a:spcBef>
            </a:pPr>
            <a:r>
              <a:rPr lang="en-US" sz="1879" dirty="0" smtClean="0">
                <a:solidFill>
                  <a:srgbClr val="FFFFFF"/>
                </a:solidFill>
                <a:latin typeface="Raleway"/>
                <a:ea typeface="Raleway"/>
                <a:cs typeface="Raleway"/>
                <a:sym typeface="Raleway"/>
              </a:rPr>
              <a:t>Text </a:t>
            </a:r>
            <a:r>
              <a:rPr lang="en-US" sz="1879" dirty="0">
                <a:solidFill>
                  <a:srgbClr val="FFFFFF"/>
                </a:solidFill>
                <a:latin typeface="Raleway"/>
                <a:ea typeface="Raleway"/>
                <a:cs typeface="Raleway"/>
                <a:sym typeface="Raleway"/>
              </a:rPr>
              <a:t>Is Reversed End to Start</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82432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It's a very basic form of encryption that doesn't require a key — just reverse the string again to decrypt. This makes it extremely easy to both encrypt and decrypt.</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No Key Needed</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00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Anyone can easily recognize and break a reversed message. It is used more for fun, puzzles, or basic obfuscation than for actual data protection.</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Extremely Weak Security</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10800" y="217926"/>
            <a:ext cx="7467600" cy="438150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10800" y="4850884"/>
            <a:ext cx="7467600" cy="425767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32276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11</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8213038" cy="1141338"/>
          </a:xfrm>
          <a:prstGeom prst="rect">
            <a:avLst/>
          </a:prstGeom>
        </p:spPr>
        <p:txBody>
          <a:bodyPr wrap="square" lIns="0" tIns="0" rIns="0" bIns="0" rtlCol="0" anchor="t">
            <a:spAutoFit/>
          </a:bodyPr>
          <a:lstStyle/>
          <a:p>
            <a:pPr>
              <a:lnSpc>
                <a:spcPts val="8919"/>
              </a:lnSpc>
              <a:spcBef>
                <a:spcPct val="0"/>
              </a:spcBef>
            </a:pPr>
            <a:r>
              <a:rPr lang="en-US" sz="8414" dirty="0">
                <a:solidFill>
                  <a:srgbClr val="FFFFFF"/>
                </a:solidFill>
                <a:latin typeface="Anton"/>
                <a:ea typeface="Anton"/>
                <a:cs typeface="Anton"/>
                <a:sym typeface="Anton"/>
              </a:rPr>
              <a:t>Substitution Cipher</a:t>
            </a: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Each letter in the plaintext is substituted with another letter or symbol from a defined set. The mapping can be random or follow a rule.</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Replaces Letters with Alternatives</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Caesar, </a:t>
            </a:r>
            <a:r>
              <a:rPr lang="en-US" sz="1580" dirty="0" err="1">
                <a:solidFill>
                  <a:srgbClr val="FFFFFF"/>
                </a:solidFill>
                <a:latin typeface="Raleway"/>
                <a:ea typeface="Raleway"/>
                <a:cs typeface="Raleway"/>
                <a:sym typeface="Raleway"/>
              </a:rPr>
              <a:t>Monoalphabetic</a:t>
            </a:r>
            <a:r>
              <a:rPr lang="en-US" sz="1580" dirty="0">
                <a:solidFill>
                  <a:srgbClr val="FFFFFF"/>
                </a:solidFill>
                <a:latin typeface="Raleway"/>
                <a:ea typeface="Raleway"/>
                <a:cs typeface="Raleway"/>
                <a:sym typeface="Raleway"/>
              </a:rPr>
              <a:t>, and </a:t>
            </a:r>
            <a:r>
              <a:rPr lang="en-US" sz="1580" dirty="0" err="1">
                <a:solidFill>
                  <a:srgbClr val="FFFFFF"/>
                </a:solidFill>
                <a:latin typeface="Raleway"/>
                <a:ea typeface="Raleway"/>
                <a:cs typeface="Raleway"/>
                <a:sym typeface="Raleway"/>
              </a:rPr>
              <a:t>Atbash</a:t>
            </a:r>
            <a:r>
              <a:rPr lang="en-US" sz="1580" dirty="0">
                <a:solidFill>
                  <a:srgbClr val="FFFFFF"/>
                </a:solidFill>
                <a:latin typeface="Raleway"/>
                <a:ea typeface="Raleway"/>
                <a:cs typeface="Raleway"/>
                <a:sym typeface="Raleway"/>
              </a:rPr>
              <a:t> are all examples of substitution ciphers. Some use fixed shifts, others use full alphabet reordering.</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Can Be Simple or Complex</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00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Despite appearing scrambled, repeated patterns (like frequent letters) can be analyzed and guessed by attackers, especially in longer texts.</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Vulnerable to Frequency Analysis</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717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50500" y="404059"/>
            <a:ext cx="7267575" cy="436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50500" y="4975229"/>
            <a:ext cx="7242175" cy="4374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32276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12</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n-US" sz="8414" dirty="0" smtClean="0">
                <a:solidFill>
                  <a:srgbClr val="FFFFFF"/>
                </a:solidFill>
                <a:latin typeface="Anton"/>
                <a:ea typeface="Anton"/>
                <a:cs typeface="Anton"/>
                <a:sym typeface="Anton"/>
              </a:rPr>
              <a:t>HILL </a:t>
            </a:r>
            <a:r>
              <a:rPr lang="en-US" sz="8414" dirty="0">
                <a:solidFill>
                  <a:srgbClr val="FFFFFF"/>
                </a:solidFill>
                <a:latin typeface="Anton"/>
                <a:ea typeface="Anton"/>
                <a:cs typeface="Anton"/>
                <a:sym typeface="Anton"/>
              </a:rPr>
              <a:t>Cipher</a:t>
            </a: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Encrypts plaintext in blocks by converting letters into numbers, forming vectors, then multiplying by a key matrix.</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Mathematical Encryption Using Matrices</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This method works in blocks like 2 or 3 letters, spreading changes across the entire block — increasing complexity.</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Encrypts Multiple Letters at Once</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00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To decrypt, the inverse of the key matrix modulo 26 is required. Not all matrices work, and decryption can be</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Requires Matrix Inversion for Decryption</a:t>
            </a:r>
          </a:p>
        </p:txBody>
      </p:sp>
      <p:pic>
        <p:nvPicPr>
          <p:cNvPr id="921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44200" y="905068"/>
            <a:ext cx="6540499" cy="394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44200" y="5008328"/>
            <a:ext cx="6540499" cy="4216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32276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13</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n-US" sz="8414" dirty="0">
                <a:solidFill>
                  <a:srgbClr val="FFFFFF"/>
                </a:solidFill>
                <a:latin typeface="Anton"/>
                <a:ea typeface="Anton"/>
                <a:cs typeface="Anton"/>
                <a:sym typeface="Anton"/>
              </a:rPr>
              <a:t>Affine Cipher</a:t>
            </a: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Each letter is encrypted using the formula: E(x) = (a * x + b) mod 26, where x is the letter’s numeric value.</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Mathematical Formula Used</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Both ‘a’ and ‘b’ are needed for encryption. ‘a’ must be coprime with 26 to allow for decryption.</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Two Key Parameters</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00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More secure than Caesar due to the added multiplication step, but it’s still a </a:t>
            </a:r>
            <a:r>
              <a:rPr lang="en-US" sz="1580" dirty="0" err="1">
                <a:solidFill>
                  <a:srgbClr val="FFFFFF"/>
                </a:solidFill>
                <a:latin typeface="Raleway"/>
                <a:ea typeface="Raleway"/>
                <a:cs typeface="Raleway"/>
                <a:sym typeface="Raleway"/>
              </a:rPr>
              <a:t>monoalphabetic</a:t>
            </a:r>
            <a:r>
              <a:rPr lang="en-US" sz="1580" dirty="0">
                <a:solidFill>
                  <a:srgbClr val="FFFFFF"/>
                </a:solidFill>
                <a:latin typeface="Raleway"/>
                <a:ea typeface="Raleway"/>
                <a:cs typeface="Raleway"/>
                <a:sym typeface="Raleway"/>
              </a:rPr>
              <a:t> cipher and can be cracked with analysis.</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Improves Caesar, Still Vulnerable</a:t>
            </a:r>
          </a:p>
        </p:txBody>
      </p:sp>
      <p:pic>
        <p:nvPicPr>
          <p:cNvPr id="819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44200" y="802108"/>
            <a:ext cx="6826342" cy="4048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66471" y="5176468"/>
            <a:ext cx="6826343" cy="4048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90237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14</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n-US" sz="8414" dirty="0" err="1" smtClean="0">
                <a:solidFill>
                  <a:srgbClr val="FFFFFF"/>
                </a:solidFill>
                <a:latin typeface="Anton"/>
                <a:ea typeface="Anton"/>
                <a:cs typeface="Anton"/>
                <a:sym typeface="Anton"/>
              </a:rPr>
              <a:t>Vigenere</a:t>
            </a:r>
            <a:r>
              <a:rPr lang="en-US" sz="8414" dirty="0" smtClean="0">
                <a:solidFill>
                  <a:srgbClr val="FFFFFF"/>
                </a:solidFill>
                <a:latin typeface="Anton"/>
                <a:ea typeface="Anton"/>
                <a:cs typeface="Anton"/>
                <a:sym typeface="Anton"/>
              </a:rPr>
              <a:t> </a:t>
            </a:r>
            <a:r>
              <a:rPr lang="en-US" sz="8414" dirty="0">
                <a:solidFill>
                  <a:srgbClr val="FFFFFF"/>
                </a:solidFill>
                <a:latin typeface="Anton"/>
                <a:ea typeface="Anton"/>
                <a:cs typeface="Anton"/>
                <a:sym typeface="Anton"/>
              </a:rPr>
              <a:t>Cipher</a:t>
            </a:r>
          </a:p>
        </p:txBody>
      </p:sp>
      <p:sp>
        <p:nvSpPr>
          <p:cNvPr id="44" name="TextBox 44"/>
          <p:cNvSpPr txBox="1"/>
          <p:nvPr/>
        </p:nvSpPr>
        <p:spPr>
          <a:xfrm>
            <a:off x="1845362" y="4850884"/>
            <a:ext cx="7065453" cy="82432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Instead of using a single fixed shift like Caesar, the </a:t>
            </a:r>
            <a:r>
              <a:rPr lang="en-US" sz="1580" dirty="0" err="1">
                <a:solidFill>
                  <a:srgbClr val="FFFFFF"/>
                </a:solidFill>
                <a:latin typeface="Raleway"/>
                <a:ea typeface="Raleway"/>
                <a:cs typeface="Raleway"/>
                <a:sym typeface="Raleway"/>
              </a:rPr>
              <a:t>Vigenère</a:t>
            </a:r>
            <a:r>
              <a:rPr lang="en-US" sz="1580" dirty="0">
                <a:solidFill>
                  <a:srgbClr val="FFFFFF"/>
                </a:solidFill>
                <a:latin typeface="Raleway"/>
                <a:ea typeface="Raleway"/>
                <a:cs typeface="Raleway"/>
                <a:sym typeface="Raleway"/>
              </a:rPr>
              <a:t> Cipher uses a keyword where each letter represents a shift. For example, the key "KEY" means shifting by K (10), E (4), and Y (24), repeated over the plaintext.</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Keyword-Based Multiple Shifts</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82432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It encrypts the same letter differently depending on its position and the corresponding letter in the key. This breaks common letter frequency patterns found in simple substitution ciphers.</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Polyalphabetic Substitution</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83628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For a long time, it was considered unbreakable. But with methods like the </a:t>
            </a:r>
            <a:r>
              <a:rPr lang="en-US" sz="1580" dirty="0" err="1">
                <a:solidFill>
                  <a:srgbClr val="FFFFFF"/>
                </a:solidFill>
                <a:latin typeface="Raleway"/>
                <a:ea typeface="Raleway"/>
                <a:cs typeface="Raleway"/>
                <a:sym typeface="Raleway"/>
              </a:rPr>
              <a:t>Kasiski</a:t>
            </a:r>
            <a:r>
              <a:rPr lang="en-US" sz="1580" dirty="0">
                <a:solidFill>
                  <a:srgbClr val="FFFFFF"/>
                </a:solidFill>
                <a:latin typeface="Raleway"/>
                <a:ea typeface="Raleway"/>
                <a:cs typeface="Raleway"/>
                <a:sym typeface="Raleway"/>
              </a:rPr>
              <a:t> examination and frequency analysis of repeating patterns, it can be cracked — especially if the keyword is short or reused.</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Stronger but Still Breakable</a:t>
            </a:r>
          </a:p>
        </p:txBody>
      </p:sp>
      <p:pic>
        <p:nvPicPr>
          <p:cNvPr id="1331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39400" y="827508"/>
            <a:ext cx="7261622" cy="421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6700" y="5277813"/>
            <a:ext cx="7261622" cy="4210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32276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15</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n-US" sz="8414" dirty="0">
                <a:solidFill>
                  <a:srgbClr val="FFFFFF"/>
                </a:solidFill>
                <a:latin typeface="Anton"/>
                <a:ea typeface="Anton"/>
                <a:cs typeface="Anton"/>
                <a:sym typeface="Anton"/>
              </a:rPr>
              <a:t>XOR Cipher</a:t>
            </a:r>
          </a:p>
        </p:txBody>
      </p:sp>
      <p:sp>
        <p:nvSpPr>
          <p:cNvPr id="44" name="TextBox 44"/>
          <p:cNvSpPr txBox="1"/>
          <p:nvPr/>
        </p:nvSpPr>
        <p:spPr>
          <a:xfrm>
            <a:off x="1845362" y="4850884"/>
            <a:ext cx="7065453" cy="82432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cipher encrypts each bit of the plaintext by performing an XOR operation with a key. If the same key is </a:t>
            </a:r>
            <a:r>
              <a:rPr lang="en-US" sz="1580" dirty="0" err="1">
                <a:solidFill>
                  <a:srgbClr val="FFFFFF"/>
                </a:solidFill>
                <a:latin typeface="Raleway"/>
                <a:ea typeface="Raleway"/>
                <a:cs typeface="Raleway"/>
                <a:sym typeface="Raleway"/>
              </a:rPr>
              <a:t>XORed</a:t>
            </a:r>
            <a:r>
              <a:rPr lang="en-US" sz="1580" dirty="0">
                <a:solidFill>
                  <a:srgbClr val="FFFFFF"/>
                </a:solidFill>
                <a:latin typeface="Raleway"/>
                <a:ea typeface="Raleway"/>
                <a:cs typeface="Raleway"/>
                <a:sym typeface="Raleway"/>
              </a:rPr>
              <a:t> again, the original text is restored.</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Uses Bitwise XOR Operation</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82432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With a truly random one-time pad key that’s as long as the message and used only once, XOR becomes theoretically unbreakable. But short or reused keys make it weak.</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Depends on Key Strength</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83628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XOR is widely used in real-world cryptographic systems, not as a standalone cipher, but as part of larger encryption algorithms thanks to its speed and reversibility.</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Common in Digital Security</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dirty="0">
                <a:solidFill>
                  <a:srgbClr val="FFFFFF"/>
                </a:solidFill>
                <a:latin typeface="TT Lakes Neue"/>
                <a:ea typeface="TT Lakes Neue"/>
                <a:cs typeface="TT Lakes Neue"/>
                <a:sym typeface="TT Lakes Neue"/>
              </a:rPr>
              <a:t>www.reallygreatsite.com</a:t>
            </a:r>
          </a:p>
        </p:txBody>
      </p:sp>
      <p:pic>
        <p:nvPicPr>
          <p:cNvPr id="1433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18183" y="282967"/>
            <a:ext cx="7543800" cy="4060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18183" y="4636399"/>
            <a:ext cx="7543800" cy="405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90237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16</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gn="l">
              <a:lnSpc>
                <a:spcPts val="8919"/>
              </a:lnSpc>
              <a:spcBef>
                <a:spcPct val="0"/>
              </a:spcBef>
            </a:pPr>
            <a:r>
              <a:rPr lang="en-US" sz="8414" dirty="0" smtClean="0">
                <a:solidFill>
                  <a:srgbClr val="FFFFFF"/>
                </a:solidFill>
                <a:latin typeface="Anton"/>
                <a:ea typeface="Anton"/>
                <a:cs typeface="Anton"/>
                <a:sym typeface="Anton"/>
              </a:rPr>
              <a:t>RSA - CIPHER</a:t>
            </a:r>
            <a:endParaRPr lang="en-US" sz="8414" dirty="0">
              <a:solidFill>
                <a:srgbClr val="FFFFFF"/>
              </a:solidFill>
              <a:latin typeface="Anton"/>
              <a:ea typeface="Anton"/>
              <a:cs typeface="Anton"/>
              <a:sym typeface="Anton"/>
            </a:endParaRPr>
          </a:p>
        </p:txBody>
      </p:sp>
      <p:sp>
        <p:nvSpPr>
          <p:cNvPr id="44" name="TextBox 44"/>
          <p:cNvSpPr txBox="1"/>
          <p:nvPr/>
        </p:nvSpPr>
        <p:spPr>
          <a:xfrm>
            <a:off x="1845362" y="4850884"/>
            <a:ext cx="7065453" cy="846386"/>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RSA cipher uses mathematical operations on large prime numbers to encrypt numeric messages using a public key </a:t>
            </a:r>
            <a:r>
              <a:rPr lang="en-US" sz="1580" dirty="0" smtClean="0">
                <a:solidFill>
                  <a:srgbClr val="FFFFFF"/>
                </a:solidFill>
                <a:latin typeface="Raleway"/>
                <a:ea typeface="Raleway"/>
                <a:cs typeface="Raleway"/>
                <a:sym typeface="Raleway"/>
              </a:rPr>
              <a:t>(P,Q,E).</a:t>
            </a:r>
            <a:r>
              <a:rPr lang="en-US" sz="1580" dirty="0">
                <a:solidFill>
                  <a:srgbClr val="FFFFFF"/>
                </a:solidFill>
                <a:latin typeface="Raleway"/>
                <a:ea typeface="Raleway"/>
                <a:cs typeface="Raleway"/>
                <a:sym typeface="Raleway"/>
              </a:rPr>
              <a:t>The encrypted message becomes unreadable without the private key.</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7401012" cy="307456"/>
          </a:xfrm>
          <a:prstGeom prst="rect">
            <a:avLst/>
          </a:prstGeom>
        </p:spPr>
        <p:txBody>
          <a:bodyPr wrap="square" lIns="0" tIns="0" rIns="0" bIns="0" rtlCol="0" anchor="t">
            <a:spAutoFit/>
          </a:bodyPr>
          <a:lstStyle/>
          <a:p>
            <a:pPr>
              <a:lnSpc>
                <a:spcPts val="2631"/>
              </a:lnSpc>
              <a:spcBef>
                <a:spcPct val="0"/>
              </a:spcBef>
            </a:pPr>
            <a:r>
              <a:rPr lang="en-US" sz="1879" dirty="0" smtClean="0">
                <a:solidFill>
                  <a:srgbClr val="FFFFFF"/>
                </a:solidFill>
                <a:latin typeface="Raleway"/>
                <a:ea typeface="Raleway"/>
                <a:cs typeface="Raleway"/>
                <a:sym typeface="Raleway"/>
              </a:rPr>
              <a:t> Encryption – Turning Numbers into Secure Codes</a:t>
            </a:r>
            <a:endParaRPr lang="en-US" sz="1879" dirty="0">
              <a:solidFill>
                <a:srgbClr val="FFFFFF"/>
              </a:solidFill>
              <a:latin typeface="Raleway"/>
              <a:ea typeface="Raleway"/>
              <a:cs typeface="Raleway"/>
              <a:sym typeface="Raleway"/>
            </a:endParaRP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Using the private key </a:t>
            </a:r>
            <a:r>
              <a:rPr lang="en-US" sz="1580" dirty="0" smtClean="0">
                <a:solidFill>
                  <a:srgbClr val="FFFFFF"/>
                </a:solidFill>
                <a:latin typeface="Raleway"/>
                <a:ea typeface="Raleway"/>
                <a:cs typeface="Raleway"/>
                <a:sym typeface="Raleway"/>
              </a:rPr>
              <a:t>(P,Q,E), </a:t>
            </a:r>
            <a:r>
              <a:rPr lang="en-US" sz="1580" dirty="0">
                <a:solidFill>
                  <a:srgbClr val="FFFFFF"/>
                </a:solidFill>
                <a:latin typeface="Raleway"/>
                <a:ea typeface="Raleway"/>
                <a:cs typeface="Raleway"/>
                <a:sym typeface="Raleway"/>
              </a:rPr>
              <a:t>the encrypted numeric message can be reversed back to its original form securely.</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5946088"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Decryption – Retrieving the Original Message</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83628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RSA’s strength lies in using large prime numbers and modular </a:t>
            </a:r>
            <a:r>
              <a:rPr lang="en-US" sz="1580" dirty="0" err="1">
                <a:solidFill>
                  <a:srgbClr val="FFFFFF"/>
                </a:solidFill>
                <a:latin typeface="Raleway"/>
                <a:ea typeface="Raleway"/>
                <a:cs typeface="Raleway"/>
                <a:sym typeface="Raleway"/>
              </a:rPr>
              <a:t>arithmetic.The</a:t>
            </a:r>
            <a:r>
              <a:rPr lang="en-US" sz="1580" dirty="0">
                <a:solidFill>
                  <a:srgbClr val="FFFFFF"/>
                </a:solidFill>
                <a:latin typeface="Raleway"/>
                <a:ea typeface="Raleway"/>
                <a:cs typeface="Raleway"/>
                <a:sym typeface="Raleway"/>
              </a:rPr>
              <a:t> difficulty of factoring large numbers keeps encrypted messages safe from attackers.</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Security Through Primes</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1229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49524" y="3155027"/>
            <a:ext cx="7268618" cy="3172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6324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2151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17</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l-GR" sz="8414" dirty="0" smtClean="0">
                <a:solidFill>
                  <a:srgbClr val="FFFFFF"/>
                </a:solidFill>
                <a:latin typeface="Anton"/>
                <a:ea typeface="Anton"/>
                <a:cs typeface="Anton"/>
                <a:sym typeface="Anton"/>
              </a:rPr>
              <a:t>Δ</a:t>
            </a:r>
            <a:r>
              <a:rPr lang="en-US" sz="8414" dirty="0" smtClean="0">
                <a:solidFill>
                  <a:srgbClr val="FFFFFF"/>
                </a:solidFill>
                <a:latin typeface="Anton"/>
                <a:ea typeface="Anton"/>
                <a:cs typeface="Anton"/>
                <a:sym typeface="Anton"/>
              </a:rPr>
              <a:t>cipher -CIPHER</a:t>
            </a:r>
            <a:endParaRPr lang="en-US" sz="8414" dirty="0">
              <a:solidFill>
                <a:srgbClr val="FFFFFF"/>
              </a:solidFill>
              <a:latin typeface="Anton"/>
              <a:ea typeface="Anton"/>
              <a:cs typeface="Anton"/>
              <a:sym typeface="Anton"/>
            </a:endParaRP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Each character becomes a polynomial term using its ASCII and </a:t>
            </a:r>
            <a:r>
              <a:rPr lang="en-US" sz="1580" dirty="0" err="1">
                <a:solidFill>
                  <a:srgbClr val="FFFFFF"/>
                </a:solidFill>
                <a:latin typeface="Raleway"/>
                <a:ea typeface="Raleway"/>
                <a:cs typeface="Raleway"/>
                <a:sym typeface="Raleway"/>
              </a:rPr>
              <a:t>position,then</a:t>
            </a:r>
            <a:r>
              <a:rPr lang="en-US" sz="1580" dirty="0">
                <a:solidFill>
                  <a:srgbClr val="FFFFFF"/>
                </a:solidFill>
                <a:latin typeface="Raleway"/>
                <a:ea typeface="Raleway"/>
                <a:cs typeface="Raleway"/>
                <a:sym typeface="Raleway"/>
              </a:rPr>
              <a:t> the derivative is taken to form the encrypted output.</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Polynomial Encryption</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Reverses encryption by dividing coefficients by their </a:t>
            </a:r>
            <a:r>
              <a:rPr lang="en-US" sz="1580" dirty="0" err="1">
                <a:solidFill>
                  <a:srgbClr val="FFFFFF"/>
                </a:solidFill>
                <a:latin typeface="Raleway"/>
                <a:ea typeface="Raleway"/>
                <a:cs typeface="Raleway"/>
                <a:sym typeface="Raleway"/>
              </a:rPr>
              <a:t>positions,restoring</a:t>
            </a:r>
            <a:r>
              <a:rPr lang="en-US" sz="1580" dirty="0">
                <a:solidFill>
                  <a:srgbClr val="FFFFFF"/>
                </a:solidFill>
                <a:latin typeface="Raleway"/>
                <a:ea typeface="Raleway"/>
                <a:cs typeface="Raleway"/>
                <a:sym typeface="Raleway"/>
              </a:rPr>
              <a:t> original ASCII values to get the message back.</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Derivative-Based Decryption</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00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Produces output that looks like calculus </a:t>
            </a:r>
            <a:r>
              <a:rPr lang="en-US" sz="1580" dirty="0" err="1">
                <a:solidFill>
                  <a:srgbClr val="FFFFFF"/>
                </a:solidFill>
                <a:latin typeface="Raleway"/>
                <a:ea typeface="Raleway"/>
                <a:cs typeface="Raleway"/>
                <a:sym typeface="Raleway"/>
              </a:rPr>
              <a:t>expressions,with</a:t>
            </a:r>
            <a:r>
              <a:rPr lang="en-US" sz="1580" dirty="0">
                <a:solidFill>
                  <a:srgbClr val="FFFFFF"/>
                </a:solidFill>
                <a:latin typeface="Raleway"/>
                <a:ea typeface="Raleway"/>
                <a:cs typeface="Raleway"/>
                <a:sym typeface="Raleway"/>
              </a:rPr>
              <a:t> position-sensitive logic for added complexity.</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Math-Like Obfuscation</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1126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38213" y="465243"/>
            <a:ext cx="6861991" cy="439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38212" y="5156494"/>
            <a:ext cx="6861991" cy="4335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9023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18</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nSpc>
                <a:spcPts val="8919"/>
              </a:lnSpc>
              <a:spcBef>
                <a:spcPct val="0"/>
              </a:spcBef>
            </a:pPr>
            <a:r>
              <a:rPr lang="en-US" sz="8414" dirty="0" smtClean="0">
                <a:solidFill>
                  <a:srgbClr val="FFFFFF"/>
                </a:solidFill>
                <a:latin typeface="Anton"/>
                <a:ea typeface="Anton"/>
                <a:cs typeface="Anton"/>
                <a:sym typeface="Anton"/>
              </a:rPr>
              <a:t>Far3on - CIPHER</a:t>
            </a:r>
            <a:endParaRPr lang="en-US" sz="8414" dirty="0">
              <a:solidFill>
                <a:srgbClr val="FFFFFF"/>
              </a:solidFill>
              <a:latin typeface="Anton"/>
              <a:ea typeface="Anton"/>
              <a:cs typeface="Anton"/>
              <a:sym typeface="Anton"/>
            </a:endParaRP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Applies Caesar cipher with position-based Fibonacci </a:t>
            </a:r>
            <a:r>
              <a:rPr lang="en-US" sz="1580" dirty="0" err="1">
                <a:solidFill>
                  <a:srgbClr val="FFFFFF"/>
                </a:solidFill>
                <a:latin typeface="Raleway"/>
                <a:ea typeface="Raleway"/>
                <a:cs typeface="Raleway"/>
                <a:sym typeface="Raleway"/>
              </a:rPr>
              <a:t>shifts,then</a:t>
            </a:r>
            <a:r>
              <a:rPr lang="en-US" sz="1580" dirty="0">
                <a:solidFill>
                  <a:srgbClr val="FFFFFF"/>
                </a:solidFill>
                <a:latin typeface="Raleway"/>
                <a:ea typeface="Raleway"/>
                <a:cs typeface="Raleway"/>
                <a:sym typeface="Raleway"/>
              </a:rPr>
              <a:t> maps the result into Egyptian hieroglyph symbols.</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Double Encryption Logic</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First converts hieroglyphs back to </a:t>
            </a:r>
            <a:r>
              <a:rPr lang="en-US" sz="1580" dirty="0" err="1">
                <a:solidFill>
                  <a:srgbClr val="FFFFFF"/>
                </a:solidFill>
                <a:latin typeface="Raleway"/>
                <a:ea typeface="Raleway"/>
                <a:cs typeface="Raleway"/>
                <a:sym typeface="Raleway"/>
              </a:rPr>
              <a:t>letters,then</a:t>
            </a:r>
            <a:r>
              <a:rPr lang="en-US" sz="1580" dirty="0">
                <a:solidFill>
                  <a:srgbClr val="FFFFFF"/>
                </a:solidFill>
                <a:latin typeface="Raleway"/>
                <a:ea typeface="Raleway"/>
                <a:cs typeface="Raleway"/>
                <a:sym typeface="Raleway"/>
              </a:rPr>
              <a:t> reverses the Fibonacci Caesar shifts.</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Layered Decryption Steps</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542008"/>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a:t>
            </a:r>
            <a:r>
              <a:rPr lang="en-US" sz="1580" dirty="0" err="1">
                <a:solidFill>
                  <a:srgbClr val="FFFFFF"/>
                </a:solidFill>
                <a:latin typeface="Raleway"/>
                <a:ea typeface="Raleway"/>
                <a:cs typeface="Raleway"/>
                <a:sym typeface="Raleway"/>
              </a:rPr>
              <a:t>ciphertext</a:t>
            </a:r>
            <a:r>
              <a:rPr lang="en-US" sz="1580" dirty="0">
                <a:solidFill>
                  <a:srgbClr val="FFFFFF"/>
                </a:solidFill>
                <a:latin typeface="Raleway"/>
                <a:ea typeface="Raleway"/>
                <a:cs typeface="Raleway"/>
                <a:sym typeface="Raleway"/>
              </a:rPr>
              <a:t> blends ancient script with dynamic </a:t>
            </a:r>
            <a:r>
              <a:rPr lang="en-US" sz="1580" dirty="0" err="1">
                <a:solidFill>
                  <a:srgbClr val="FFFFFF"/>
                </a:solidFill>
                <a:latin typeface="Raleway"/>
                <a:ea typeface="Raleway"/>
                <a:cs typeface="Raleway"/>
                <a:sym typeface="Raleway"/>
              </a:rPr>
              <a:t>shifts,making</a:t>
            </a:r>
            <a:r>
              <a:rPr lang="en-US" sz="1580" dirty="0">
                <a:solidFill>
                  <a:srgbClr val="FFFFFF"/>
                </a:solidFill>
                <a:latin typeface="Raleway"/>
                <a:ea typeface="Raleway"/>
                <a:cs typeface="Raleway"/>
                <a:sym typeface="Raleway"/>
              </a:rPr>
              <a:t> it visually cryptic and hard to guess.</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07713"/>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Obscure &amp; Cultural Output</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1536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54289" y="518527"/>
            <a:ext cx="7320394" cy="4142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28889" y="4850884"/>
            <a:ext cx="7307694" cy="4142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6324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2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20342" y="2149084"/>
            <a:ext cx="21757266" cy="7076160"/>
            <a:chOff x="0" y="0"/>
            <a:chExt cx="5730309" cy="1863680"/>
          </a:xfrm>
        </p:grpSpPr>
        <p:sp>
          <p:nvSpPr>
            <p:cNvPr id="12" name="Freeform 12"/>
            <p:cNvSpPr/>
            <p:nvPr/>
          </p:nvSpPr>
          <p:spPr>
            <a:xfrm>
              <a:off x="0" y="0"/>
              <a:ext cx="5730309" cy="1863680"/>
            </a:xfrm>
            <a:custGeom>
              <a:avLst/>
              <a:gdLst/>
              <a:ahLst/>
              <a:cxnLst/>
              <a:rect l="l" t="t" r="r" b="b"/>
              <a:pathLst>
                <a:path w="5730309" h="1863680">
                  <a:moveTo>
                    <a:pt x="0" y="0"/>
                  </a:moveTo>
                  <a:lnTo>
                    <a:pt x="5730309" y="0"/>
                  </a:lnTo>
                  <a:lnTo>
                    <a:pt x="5730309" y="1863680"/>
                  </a:lnTo>
                  <a:lnTo>
                    <a:pt x="0" y="1863680"/>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5730309" cy="1825580"/>
            </a:xfrm>
            <a:prstGeom prst="rect">
              <a:avLst/>
            </a:prstGeom>
          </p:spPr>
          <p:txBody>
            <a:bodyPr lIns="50800" tIns="50800" rIns="50800" bIns="50800" rtlCol="0" anchor="ctr"/>
            <a:lstStyle/>
            <a:p>
              <a:pPr algn="ctr">
                <a:lnSpc>
                  <a:spcPts val="2473"/>
                </a:lnSpc>
              </a:pPr>
              <a:endParaRPr/>
            </a:p>
          </p:txBody>
        </p:sp>
      </p:grpSp>
      <p:grpSp>
        <p:nvGrpSpPr>
          <p:cNvPr id="34" name="Group 34"/>
          <p:cNvGrpSpPr/>
          <p:nvPr/>
        </p:nvGrpSpPr>
        <p:grpSpPr>
          <a:xfrm>
            <a:off x="1845362" y="4272038"/>
            <a:ext cx="418645" cy="41864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6" name="TextBox 36"/>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2" name="TextBox 42"/>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19</a:t>
            </a:r>
            <a:endParaRPr lang="en-US" sz="1463" b="1" spc="379" dirty="0">
              <a:solidFill>
                <a:srgbClr val="FFFFFF"/>
              </a:solidFill>
              <a:latin typeface="TT Lakes Neue Bold"/>
              <a:ea typeface="TT Lakes Neue Bold"/>
              <a:cs typeface="TT Lakes Neue Bold"/>
              <a:sym typeface="TT Lakes Neue Bold"/>
            </a:endParaRPr>
          </a:p>
        </p:txBody>
      </p:sp>
      <p:sp>
        <p:nvSpPr>
          <p:cNvPr id="43" name="TextBox 43"/>
          <p:cNvSpPr txBox="1"/>
          <p:nvPr/>
        </p:nvSpPr>
        <p:spPr>
          <a:xfrm>
            <a:off x="1845362" y="2840654"/>
            <a:ext cx="7298638" cy="1173843"/>
          </a:xfrm>
          <a:prstGeom prst="rect">
            <a:avLst/>
          </a:prstGeom>
        </p:spPr>
        <p:txBody>
          <a:bodyPr lIns="0" tIns="0" rIns="0" bIns="0" rtlCol="0" anchor="t">
            <a:spAutoFit/>
          </a:bodyPr>
          <a:lstStyle/>
          <a:p>
            <a:pPr algn="l">
              <a:lnSpc>
                <a:spcPts val="8919"/>
              </a:lnSpc>
              <a:spcBef>
                <a:spcPct val="0"/>
              </a:spcBef>
            </a:pPr>
            <a:r>
              <a:rPr lang="en-US" sz="8414" dirty="0" smtClean="0">
                <a:solidFill>
                  <a:srgbClr val="FFFFFF"/>
                </a:solidFill>
                <a:latin typeface="Anton"/>
                <a:ea typeface="Anton"/>
                <a:cs typeface="Anton"/>
                <a:sym typeface="Anton"/>
              </a:rPr>
              <a:t>MUSTAFA CIPHER</a:t>
            </a:r>
            <a:endParaRPr lang="en-US" sz="8414" dirty="0">
              <a:solidFill>
                <a:srgbClr val="FFFFFF"/>
              </a:solidFill>
              <a:latin typeface="Anton"/>
              <a:ea typeface="Anton"/>
              <a:cs typeface="Anton"/>
              <a:sym typeface="Anton"/>
            </a:endParaRPr>
          </a:p>
        </p:txBody>
      </p:sp>
      <p:sp>
        <p:nvSpPr>
          <p:cNvPr id="44" name="TextBox 44"/>
          <p:cNvSpPr txBox="1"/>
          <p:nvPr/>
        </p:nvSpPr>
        <p:spPr>
          <a:xfrm>
            <a:off x="1845362" y="4850884"/>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cipher takes readable text (plaintext) and scrambles it into an unreadable form (</a:t>
            </a:r>
            <a:r>
              <a:rPr lang="en-US" sz="1580" dirty="0" err="1">
                <a:solidFill>
                  <a:srgbClr val="FFFFFF"/>
                </a:solidFill>
                <a:latin typeface="Raleway"/>
                <a:ea typeface="Raleway"/>
                <a:cs typeface="Raleway"/>
                <a:sym typeface="Raleway"/>
              </a:rPr>
              <a:t>ciphertext</a:t>
            </a:r>
            <a:r>
              <a:rPr lang="en-US" sz="1580" dirty="0">
                <a:solidFill>
                  <a:srgbClr val="FFFFFF"/>
                </a:solidFill>
                <a:latin typeface="Raleway"/>
                <a:ea typeface="Raleway"/>
                <a:cs typeface="Raleway"/>
                <a:sym typeface="Raleway"/>
              </a:rPr>
              <a:t>) using a defined rule or algorithm.</a:t>
            </a:r>
          </a:p>
        </p:txBody>
      </p:sp>
      <p:sp>
        <p:nvSpPr>
          <p:cNvPr id="45" name="TextBox 45"/>
          <p:cNvSpPr txBox="1"/>
          <p:nvPr/>
        </p:nvSpPr>
        <p:spPr>
          <a:xfrm>
            <a:off x="1983430" y="4315671"/>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1.</a:t>
            </a:r>
          </a:p>
        </p:txBody>
      </p:sp>
      <p:sp>
        <p:nvSpPr>
          <p:cNvPr id="46" name="TextBox 46"/>
          <p:cNvSpPr txBox="1"/>
          <p:nvPr/>
        </p:nvSpPr>
        <p:spPr>
          <a:xfrm>
            <a:off x="2435912" y="4327860"/>
            <a:ext cx="5336488"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1. Encryption – Turning Plain into Secret</a:t>
            </a:r>
          </a:p>
        </p:txBody>
      </p:sp>
      <p:grpSp>
        <p:nvGrpSpPr>
          <p:cNvPr id="47" name="Group 47"/>
          <p:cNvGrpSpPr/>
          <p:nvPr/>
        </p:nvGrpSpPr>
        <p:grpSpPr>
          <a:xfrm>
            <a:off x="1845362" y="5888604"/>
            <a:ext cx="418645" cy="41864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49" name="TextBox 4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0" name="TextBox 50"/>
          <p:cNvSpPr txBox="1"/>
          <p:nvPr/>
        </p:nvSpPr>
        <p:spPr>
          <a:xfrm>
            <a:off x="1845362" y="6467450"/>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Using the correct key, the </a:t>
            </a:r>
            <a:r>
              <a:rPr lang="en-US" sz="1580" dirty="0" err="1">
                <a:solidFill>
                  <a:srgbClr val="FFFFFF"/>
                </a:solidFill>
                <a:latin typeface="Raleway"/>
                <a:ea typeface="Raleway"/>
                <a:cs typeface="Raleway"/>
                <a:sym typeface="Raleway"/>
              </a:rPr>
              <a:t>ciphertext</a:t>
            </a:r>
            <a:r>
              <a:rPr lang="en-US" sz="1580" dirty="0">
                <a:solidFill>
                  <a:srgbClr val="FFFFFF"/>
                </a:solidFill>
                <a:latin typeface="Raleway"/>
                <a:ea typeface="Raleway"/>
                <a:cs typeface="Raleway"/>
                <a:sym typeface="Raleway"/>
              </a:rPr>
              <a:t> is reversed back into the original readable message (plaintext) by applying the cipher in reverse.</a:t>
            </a:r>
          </a:p>
        </p:txBody>
      </p:sp>
      <p:sp>
        <p:nvSpPr>
          <p:cNvPr id="51" name="TextBox 51"/>
          <p:cNvSpPr txBox="1"/>
          <p:nvPr/>
        </p:nvSpPr>
        <p:spPr>
          <a:xfrm>
            <a:off x="1983430" y="5932237"/>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52" name="TextBox 52"/>
          <p:cNvSpPr txBox="1"/>
          <p:nvPr/>
        </p:nvSpPr>
        <p:spPr>
          <a:xfrm>
            <a:off x="2435912" y="5944426"/>
            <a:ext cx="4941064"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2. Decryption – Revealing the Message</a:t>
            </a:r>
          </a:p>
        </p:txBody>
      </p:sp>
      <p:grpSp>
        <p:nvGrpSpPr>
          <p:cNvPr id="53" name="Group 53"/>
          <p:cNvGrpSpPr/>
          <p:nvPr/>
        </p:nvGrpSpPr>
        <p:grpSpPr>
          <a:xfrm>
            <a:off x="1845362" y="7505170"/>
            <a:ext cx="418645" cy="4186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56"/>
          <p:cNvSpPr txBox="1"/>
          <p:nvPr/>
        </p:nvSpPr>
        <p:spPr>
          <a:xfrm>
            <a:off x="1845362" y="8084016"/>
            <a:ext cx="6855903" cy="83628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The strength of a cipher depends on how hard it is to guess or break the key without knowing the encryption method. Stronger keys mean better protection.</a:t>
            </a:r>
          </a:p>
        </p:txBody>
      </p:sp>
      <p:sp>
        <p:nvSpPr>
          <p:cNvPr id="57" name="TextBox 57"/>
          <p:cNvSpPr txBox="1"/>
          <p:nvPr/>
        </p:nvSpPr>
        <p:spPr>
          <a:xfrm>
            <a:off x="1983430" y="7548803"/>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58" name="TextBox 58"/>
          <p:cNvSpPr txBox="1"/>
          <p:nvPr/>
        </p:nvSpPr>
        <p:spPr>
          <a:xfrm>
            <a:off x="2435912" y="7560992"/>
            <a:ext cx="4498288"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3. Security Through Keys</a:t>
            </a:r>
          </a:p>
        </p:txBody>
      </p:sp>
      <p:sp>
        <p:nvSpPr>
          <p:cNvPr id="59" name="TextBox 59"/>
          <p:cNvSpPr txBox="1"/>
          <p:nvPr/>
        </p:nvSpPr>
        <p:spPr>
          <a:xfrm>
            <a:off x="7376976" y="9702075"/>
            <a:ext cx="3534047" cy="190414"/>
          </a:xfrm>
          <a:prstGeom prst="rect">
            <a:avLst/>
          </a:prstGeom>
        </p:spPr>
        <p:txBody>
          <a:bodyPr lIns="0" tIns="0" rIns="0" bIns="0" rtlCol="0" anchor="t">
            <a:spAutoFit/>
          </a:bodyPr>
          <a:lstStyle/>
          <a:p>
            <a:pPr algn="ctr">
              <a:lnSpc>
                <a:spcPts val="1467"/>
              </a:lnSpc>
              <a:spcBef>
                <a:spcPct val="0"/>
              </a:spcBef>
            </a:pPr>
            <a:r>
              <a:rPr lang="en-US" sz="1383" spc="358">
                <a:solidFill>
                  <a:srgbClr val="FFFFFF"/>
                </a:solidFill>
                <a:latin typeface="TT Lakes Neue"/>
                <a:ea typeface="TT Lakes Neue"/>
                <a:cs typeface="TT Lakes Neue"/>
                <a:sym typeface="TT Lakes Neue"/>
              </a:rPr>
              <a:t>www.reallygreatsite.com</a:t>
            </a:r>
          </a:p>
        </p:txBody>
      </p:sp>
      <p:pic>
        <p:nvPicPr>
          <p:cNvPr id="1024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91802" y="529348"/>
            <a:ext cx="6826342" cy="3787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91802" y="5132164"/>
            <a:ext cx="6826341" cy="3788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6324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96079" y="2182140"/>
            <a:ext cx="18387059" cy="3515099"/>
            <a:chOff x="0" y="0"/>
            <a:chExt cx="4842682" cy="925787"/>
          </a:xfrm>
        </p:grpSpPr>
        <p:sp>
          <p:nvSpPr>
            <p:cNvPr id="12" name="Freeform 12"/>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grpSp>
        <p:nvGrpSpPr>
          <p:cNvPr id="14" name="Group 14"/>
          <p:cNvGrpSpPr/>
          <p:nvPr/>
        </p:nvGrpSpPr>
        <p:grpSpPr>
          <a:xfrm>
            <a:off x="5581722" y="4014497"/>
            <a:ext cx="3331953" cy="4061629"/>
            <a:chOff x="0" y="0"/>
            <a:chExt cx="516207" cy="629253"/>
          </a:xfrm>
        </p:grpSpPr>
        <p:sp>
          <p:nvSpPr>
            <p:cNvPr id="15" name="Freeform 15"/>
            <p:cNvSpPr/>
            <p:nvPr/>
          </p:nvSpPr>
          <p:spPr>
            <a:xfrm>
              <a:off x="0" y="0"/>
              <a:ext cx="516207" cy="629253"/>
            </a:xfrm>
            <a:custGeom>
              <a:avLst/>
              <a:gdLst/>
              <a:ahLst/>
              <a:cxnLst/>
              <a:rect l="l" t="t" r="r" b="b"/>
              <a:pathLst>
                <a:path w="516207" h="629253">
                  <a:moveTo>
                    <a:pt x="0" y="0"/>
                  </a:moveTo>
                  <a:lnTo>
                    <a:pt x="516207" y="0"/>
                  </a:lnTo>
                  <a:lnTo>
                    <a:pt x="516207" y="629253"/>
                  </a:lnTo>
                  <a:lnTo>
                    <a:pt x="0" y="629253"/>
                  </a:lnTo>
                  <a:close/>
                </a:path>
              </a:pathLst>
            </a:custGeom>
            <a:blipFill>
              <a:blip r:embed="rId7"/>
              <a:stretch>
                <a:fillRect l="-41481" r="-41481"/>
              </a:stretch>
            </a:blipFill>
            <a:ln w="38100" cap="sq">
              <a:gradFill>
                <a:gsLst>
                  <a:gs pos="0">
                    <a:srgbClr val="45DEEF">
                      <a:alpha val="100000"/>
                    </a:srgbClr>
                  </a:gs>
                  <a:gs pos="100000">
                    <a:srgbClr val="0074AD">
                      <a:alpha val="6500"/>
                    </a:srgbClr>
                  </a:gs>
                </a:gsLst>
                <a:lin ang="0"/>
              </a:gradFill>
              <a:prstDash val="solid"/>
              <a:miter/>
            </a:ln>
          </p:spPr>
        </p:sp>
      </p:grpSp>
      <p:sp>
        <p:nvSpPr>
          <p:cNvPr id="21" name="TextBox 21"/>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20</a:t>
            </a:r>
            <a:endParaRPr lang="en-US" sz="1463" b="1" spc="379" dirty="0">
              <a:solidFill>
                <a:srgbClr val="FFFFFF"/>
              </a:solidFill>
              <a:latin typeface="TT Lakes Neue Bold"/>
              <a:ea typeface="TT Lakes Neue Bold"/>
              <a:cs typeface="TT Lakes Neue Bold"/>
              <a:sym typeface="TT Lakes Neue Bold"/>
            </a:endParaRPr>
          </a:p>
        </p:txBody>
      </p:sp>
      <p:sp>
        <p:nvSpPr>
          <p:cNvPr id="22" name="TextBox 22"/>
          <p:cNvSpPr txBox="1"/>
          <p:nvPr/>
        </p:nvSpPr>
        <p:spPr>
          <a:xfrm>
            <a:off x="1845362" y="2840654"/>
            <a:ext cx="7679638" cy="1141338"/>
          </a:xfrm>
          <a:prstGeom prst="rect">
            <a:avLst/>
          </a:prstGeom>
        </p:spPr>
        <p:txBody>
          <a:bodyPr wrap="square" lIns="0" tIns="0" rIns="0" bIns="0" rtlCol="0" anchor="t">
            <a:spAutoFit/>
          </a:bodyPr>
          <a:lstStyle/>
          <a:p>
            <a:pPr>
              <a:lnSpc>
                <a:spcPts val="8919"/>
              </a:lnSpc>
              <a:spcBef>
                <a:spcPct val="0"/>
              </a:spcBef>
            </a:pPr>
            <a:r>
              <a:rPr lang="en-US" sz="8414" dirty="0">
                <a:solidFill>
                  <a:srgbClr val="FFFFFF"/>
                </a:solidFill>
                <a:latin typeface="Anton"/>
                <a:ea typeface="Anton"/>
                <a:cs typeface="Anton"/>
                <a:sym typeface="Anton"/>
              </a:rPr>
              <a:t>Classical Ciphers</a:t>
            </a:r>
          </a:p>
        </p:txBody>
      </p:sp>
      <p:grpSp>
        <p:nvGrpSpPr>
          <p:cNvPr id="23" name="Group 23"/>
          <p:cNvGrpSpPr/>
          <p:nvPr/>
        </p:nvGrpSpPr>
        <p:grpSpPr>
          <a:xfrm>
            <a:off x="1635010" y="4014497"/>
            <a:ext cx="3384955" cy="4061629"/>
            <a:chOff x="-54832" y="0"/>
            <a:chExt cx="516207" cy="629253"/>
          </a:xfrm>
        </p:grpSpPr>
        <p:sp>
          <p:nvSpPr>
            <p:cNvPr id="24" name="Freeform 24"/>
            <p:cNvSpPr/>
            <p:nvPr/>
          </p:nvSpPr>
          <p:spPr>
            <a:xfrm>
              <a:off x="-54832" y="0"/>
              <a:ext cx="516207" cy="629253"/>
            </a:xfrm>
            <a:custGeom>
              <a:avLst/>
              <a:gdLst/>
              <a:ahLst/>
              <a:cxnLst/>
              <a:rect l="l" t="t" r="r" b="b"/>
              <a:pathLst>
                <a:path w="516207" h="629253">
                  <a:moveTo>
                    <a:pt x="0" y="0"/>
                  </a:moveTo>
                  <a:lnTo>
                    <a:pt x="516207" y="0"/>
                  </a:lnTo>
                  <a:lnTo>
                    <a:pt x="516207" y="629253"/>
                  </a:lnTo>
                  <a:lnTo>
                    <a:pt x="0" y="629253"/>
                  </a:lnTo>
                  <a:close/>
                </a:path>
              </a:pathLst>
            </a:custGeom>
            <a:blipFill>
              <a:blip r:embed="rId8"/>
              <a:stretch>
                <a:fillRect l="-41481" r="-41481"/>
              </a:stretch>
            </a:blipFill>
            <a:ln w="38100" cap="sq">
              <a:gradFill>
                <a:gsLst>
                  <a:gs pos="0">
                    <a:srgbClr val="45DEEF">
                      <a:alpha val="100000"/>
                    </a:srgbClr>
                  </a:gs>
                  <a:gs pos="100000">
                    <a:srgbClr val="0074AD">
                      <a:alpha val="6500"/>
                    </a:srgbClr>
                  </a:gs>
                </a:gsLst>
                <a:lin ang="0"/>
              </a:gradFill>
              <a:prstDash val="solid"/>
              <a:miter/>
            </a:ln>
          </p:spPr>
        </p:sp>
      </p:grpSp>
      <p:grpSp>
        <p:nvGrpSpPr>
          <p:cNvPr id="25" name="Group 25"/>
          <p:cNvGrpSpPr/>
          <p:nvPr/>
        </p:nvGrpSpPr>
        <p:grpSpPr>
          <a:xfrm>
            <a:off x="9746598" y="2819371"/>
            <a:ext cx="418645" cy="41864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27" name="TextBox 27"/>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28" name="TextBox 28"/>
          <p:cNvSpPr txBox="1"/>
          <p:nvPr/>
        </p:nvSpPr>
        <p:spPr>
          <a:xfrm>
            <a:off x="9746598" y="3398217"/>
            <a:ext cx="7065453" cy="260071"/>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Letters replaced by others using fixed rules. Examples: Caesar, </a:t>
            </a:r>
            <a:r>
              <a:rPr lang="en-US" sz="1580" dirty="0" err="1">
                <a:solidFill>
                  <a:srgbClr val="FFFFFF"/>
                </a:solidFill>
                <a:latin typeface="Raleway"/>
                <a:ea typeface="Raleway"/>
                <a:cs typeface="Raleway"/>
                <a:sym typeface="Raleway"/>
              </a:rPr>
              <a:t>Atbash</a:t>
            </a:r>
            <a:endParaRPr lang="en-US" sz="1580" dirty="0">
              <a:solidFill>
                <a:srgbClr val="FFFFFF"/>
              </a:solidFill>
              <a:latin typeface="Raleway"/>
              <a:ea typeface="Raleway"/>
              <a:cs typeface="Raleway"/>
              <a:sym typeface="Raleway"/>
            </a:endParaRPr>
          </a:p>
        </p:txBody>
      </p:sp>
      <p:sp>
        <p:nvSpPr>
          <p:cNvPr id="29" name="TextBox 29"/>
          <p:cNvSpPr txBox="1"/>
          <p:nvPr/>
        </p:nvSpPr>
        <p:spPr>
          <a:xfrm>
            <a:off x="9884667" y="2863004"/>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1.</a:t>
            </a:r>
          </a:p>
        </p:txBody>
      </p:sp>
      <p:sp>
        <p:nvSpPr>
          <p:cNvPr id="30" name="TextBox 30"/>
          <p:cNvSpPr txBox="1"/>
          <p:nvPr/>
        </p:nvSpPr>
        <p:spPr>
          <a:xfrm>
            <a:off x="10337148" y="2875193"/>
            <a:ext cx="6319468"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SAFE BROWSING → SUBSTITUTION CIPHERS</a:t>
            </a:r>
          </a:p>
        </p:txBody>
      </p:sp>
      <p:grpSp>
        <p:nvGrpSpPr>
          <p:cNvPr id="31" name="Group 31"/>
          <p:cNvGrpSpPr/>
          <p:nvPr/>
        </p:nvGrpSpPr>
        <p:grpSpPr>
          <a:xfrm>
            <a:off x="9746598" y="4435937"/>
            <a:ext cx="418645" cy="41864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3" name="TextBox 33"/>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34" name="TextBox 34"/>
          <p:cNvSpPr txBox="1"/>
          <p:nvPr/>
        </p:nvSpPr>
        <p:spPr>
          <a:xfrm>
            <a:off x="9746598" y="5014783"/>
            <a:ext cx="6855903" cy="260071"/>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Letters rearranged without substitution. Examples: Rail Fence, Columnar</a:t>
            </a:r>
          </a:p>
        </p:txBody>
      </p:sp>
      <p:sp>
        <p:nvSpPr>
          <p:cNvPr id="35" name="TextBox 35"/>
          <p:cNvSpPr txBox="1"/>
          <p:nvPr/>
        </p:nvSpPr>
        <p:spPr>
          <a:xfrm>
            <a:off x="9884667" y="4479570"/>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2.</a:t>
            </a:r>
          </a:p>
        </p:txBody>
      </p:sp>
      <p:sp>
        <p:nvSpPr>
          <p:cNvPr id="36" name="TextBox 36"/>
          <p:cNvSpPr txBox="1"/>
          <p:nvPr/>
        </p:nvSpPr>
        <p:spPr>
          <a:xfrm>
            <a:off x="10337147" y="4491759"/>
            <a:ext cx="6922151"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 RECOGNIZING SCAMS → TRANSPOSITION CIPHERS</a:t>
            </a:r>
          </a:p>
        </p:txBody>
      </p:sp>
      <p:grpSp>
        <p:nvGrpSpPr>
          <p:cNvPr id="37" name="Group 37"/>
          <p:cNvGrpSpPr/>
          <p:nvPr/>
        </p:nvGrpSpPr>
        <p:grpSpPr>
          <a:xfrm>
            <a:off x="9746598" y="6052503"/>
            <a:ext cx="418645" cy="418645"/>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39" name="TextBox 3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40" name="TextBox 40"/>
          <p:cNvSpPr txBox="1"/>
          <p:nvPr/>
        </p:nvSpPr>
        <p:spPr>
          <a:xfrm>
            <a:off x="9746598" y="6631349"/>
            <a:ext cx="6855903" cy="260071"/>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How classical ciphers inspired algorithms like AES and RSA</a:t>
            </a:r>
          </a:p>
        </p:txBody>
      </p:sp>
      <p:sp>
        <p:nvSpPr>
          <p:cNvPr id="41" name="TextBox 41"/>
          <p:cNvSpPr txBox="1"/>
          <p:nvPr/>
        </p:nvSpPr>
        <p:spPr>
          <a:xfrm>
            <a:off x="9884667" y="6096136"/>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3.</a:t>
            </a:r>
          </a:p>
        </p:txBody>
      </p:sp>
      <p:sp>
        <p:nvSpPr>
          <p:cNvPr id="42" name="TextBox 42"/>
          <p:cNvSpPr txBox="1"/>
          <p:nvPr/>
        </p:nvSpPr>
        <p:spPr>
          <a:xfrm>
            <a:off x="10337148" y="6108325"/>
            <a:ext cx="7080994" cy="333425"/>
          </a:xfrm>
          <a:prstGeom prst="rect">
            <a:avLst/>
          </a:prstGeom>
        </p:spPr>
        <p:txBody>
          <a:bodyPr wrap="square"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PASSWORD MANAGEMENT → MODERN APPLICATIONS</a:t>
            </a:r>
          </a:p>
        </p:txBody>
      </p:sp>
      <p:sp>
        <p:nvSpPr>
          <p:cNvPr id="44" name="TextBox 33"/>
          <p:cNvSpPr txBox="1"/>
          <p:nvPr/>
        </p:nvSpPr>
        <p:spPr>
          <a:xfrm>
            <a:off x="1507908" y="983251"/>
            <a:ext cx="4467429" cy="218008"/>
          </a:xfrm>
          <a:prstGeom prst="rect">
            <a:avLst/>
          </a:prstGeom>
        </p:spPr>
        <p:txBody>
          <a:bodyPr wrap="square" lIns="0" tIns="0" rIns="0" bIns="0" rtlCol="0" anchor="t">
            <a:spAutoFit/>
          </a:bodyPr>
          <a:lstStyle/>
          <a:p>
            <a:pPr>
              <a:lnSpc>
                <a:spcPts val="1677"/>
              </a:lnSpc>
              <a:spcBef>
                <a:spcPct val="0"/>
              </a:spcBef>
            </a:pPr>
            <a:r>
              <a:rPr lang="en-US" sz="1582" spc="98" dirty="0">
                <a:solidFill>
                  <a:srgbClr val="FFFFFF"/>
                </a:solidFill>
                <a:latin typeface="Raleway"/>
                <a:ea typeface="Raleway"/>
                <a:cs typeface="Raleway"/>
                <a:sym typeface="Raleway"/>
              </a:rPr>
              <a:t>CIPHERS &amp; CYBERSECURITY</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a:off x="914827" y="9719553"/>
            <a:ext cx="731654" cy="345873"/>
          </a:xfrm>
          <a:custGeom>
            <a:avLst/>
            <a:gdLst/>
            <a:ahLst/>
            <a:cxnLst/>
            <a:rect l="l" t="t" r="r" b="b"/>
            <a:pathLst>
              <a:path w="731654" h="345873">
                <a:moveTo>
                  <a:pt x="0" y="0"/>
                </a:moveTo>
                <a:lnTo>
                  <a:pt x="731654" y="0"/>
                </a:lnTo>
                <a:lnTo>
                  <a:pt x="731654" y="345873"/>
                </a:lnTo>
                <a:lnTo>
                  <a:pt x="0" y="3458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1996079" y="2182140"/>
            <a:ext cx="18387059" cy="3515099"/>
            <a:chOff x="0" y="0"/>
            <a:chExt cx="4842682" cy="925787"/>
          </a:xfrm>
        </p:grpSpPr>
        <p:sp>
          <p:nvSpPr>
            <p:cNvPr id="12" name="Freeform 12"/>
            <p:cNvSpPr/>
            <p:nvPr/>
          </p:nvSpPr>
          <p:spPr>
            <a:xfrm>
              <a:off x="0" y="0"/>
              <a:ext cx="4842682" cy="925787"/>
            </a:xfrm>
            <a:custGeom>
              <a:avLst/>
              <a:gdLst/>
              <a:ahLst/>
              <a:cxnLst/>
              <a:rect l="l" t="t" r="r" b="b"/>
              <a:pathLst>
                <a:path w="4842682" h="925787">
                  <a:moveTo>
                    <a:pt x="0" y="0"/>
                  </a:moveTo>
                  <a:lnTo>
                    <a:pt x="4842682" y="0"/>
                  </a:lnTo>
                  <a:lnTo>
                    <a:pt x="4842682" y="925787"/>
                  </a:lnTo>
                  <a:lnTo>
                    <a:pt x="0" y="925787"/>
                  </a:lnTo>
                  <a:close/>
                </a:path>
              </a:pathLst>
            </a:custGeom>
            <a:gradFill rotWithShape="1">
              <a:gsLst>
                <a:gs pos="0">
                  <a:srgbClr val="45DEEF">
                    <a:alpha val="100000"/>
                  </a:srgbClr>
                </a:gs>
                <a:gs pos="100000">
                  <a:srgbClr val="0074AD">
                    <a:alpha val="6500"/>
                  </a:srgbClr>
                </a:gs>
              </a:gsLst>
              <a:lin ang="0"/>
            </a:gradFill>
          </p:spPr>
        </p:sp>
        <p:sp>
          <p:nvSpPr>
            <p:cNvPr id="13" name="TextBox 13"/>
            <p:cNvSpPr txBox="1"/>
            <p:nvPr/>
          </p:nvSpPr>
          <p:spPr>
            <a:xfrm>
              <a:off x="0" y="38100"/>
              <a:ext cx="4842682" cy="887687"/>
            </a:xfrm>
            <a:prstGeom prst="rect">
              <a:avLst/>
            </a:prstGeom>
          </p:spPr>
          <p:txBody>
            <a:bodyPr lIns="50800" tIns="50800" rIns="50800" bIns="50800" rtlCol="0" anchor="ctr"/>
            <a:lstStyle/>
            <a:p>
              <a:pPr algn="ctr">
                <a:lnSpc>
                  <a:spcPts val="2473"/>
                </a:lnSpc>
              </a:pPr>
              <a:endParaRPr/>
            </a:p>
          </p:txBody>
        </p:sp>
      </p:grpSp>
      <p:grpSp>
        <p:nvGrpSpPr>
          <p:cNvPr id="14" name="Group 14"/>
          <p:cNvGrpSpPr/>
          <p:nvPr/>
        </p:nvGrpSpPr>
        <p:grpSpPr>
          <a:xfrm>
            <a:off x="8342429" y="8967622"/>
            <a:ext cx="2468532" cy="313375"/>
            <a:chOff x="0" y="0"/>
            <a:chExt cx="650148" cy="82535"/>
          </a:xfrm>
        </p:grpSpPr>
        <p:sp>
          <p:nvSpPr>
            <p:cNvPr id="15" name="Freeform 15"/>
            <p:cNvSpPr/>
            <p:nvPr/>
          </p:nvSpPr>
          <p:spPr>
            <a:xfrm>
              <a:off x="0" y="0"/>
              <a:ext cx="650148" cy="82535"/>
            </a:xfrm>
            <a:custGeom>
              <a:avLst/>
              <a:gdLst/>
              <a:ahLst/>
              <a:cxnLst/>
              <a:rect l="l" t="t" r="r" b="b"/>
              <a:pathLst>
                <a:path w="650148" h="82535">
                  <a:moveTo>
                    <a:pt x="0" y="0"/>
                  </a:moveTo>
                  <a:lnTo>
                    <a:pt x="650148" y="0"/>
                  </a:lnTo>
                  <a:lnTo>
                    <a:pt x="650148" y="82535"/>
                  </a:lnTo>
                  <a:lnTo>
                    <a:pt x="0" y="82535"/>
                  </a:lnTo>
                  <a:close/>
                </a:path>
              </a:pathLst>
            </a:custGeom>
            <a:gradFill rotWithShape="1">
              <a:gsLst>
                <a:gs pos="0">
                  <a:srgbClr val="45DEEF">
                    <a:alpha val="100000"/>
                  </a:srgbClr>
                </a:gs>
                <a:gs pos="100000">
                  <a:srgbClr val="0074AD">
                    <a:alpha val="6500"/>
                  </a:srgbClr>
                </a:gs>
              </a:gsLst>
              <a:lin ang="0"/>
            </a:gradFill>
          </p:spPr>
        </p:sp>
        <p:sp>
          <p:nvSpPr>
            <p:cNvPr id="16" name="TextBox 16"/>
            <p:cNvSpPr txBox="1"/>
            <p:nvPr/>
          </p:nvSpPr>
          <p:spPr>
            <a:xfrm>
              <a:off x="0" y="38100"/>
              <a:ext cx="650148" cy="44435"/>
            </a:xfrm>
            <a:prstGeom prst="rect">
              <a:avLst/>
            </a:prstGeom>
          </p:spPr>
          <p:txBody>
            <a:bodyPr lIns="50800" tIns="50800" rIns="50800" bIns="50800" rtlCol="0" anchor="ctr"/>
            <a:lstStyle/>
            <a:p>
              <a:pPr algn="ctr">
                <a:lnSpc>
                  <a:spcPts val="2473"/>
                </a:lnSpc>
              </a:pPr>
              <a:endParaRPr/>
            </a:p>
          </p:txBody>
        </p:sp>
      </p:grpSp>
      <p:grpSp>
        <p:nvGrpSpPr>
          <p:cNvPr id="17" name="Group 17"/>
          <p:cNvGrpSpPr/>
          <p:nvPr/>
        </p:nvGrpSpPr>
        <p:grpSpPr>
          <a:xfrm>
            <a:off x="8303181" y="3829153"/>
            <a:ext cx="418645" cy="41864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19" name="TextBox 19"/>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grpSp>
        <p:nvGrpSpPr>
          <p:cNvPr id="20" name="Group 20"/>
          <p:cNvGrpSpPr/>
          <p:nvPr/>
        </p:nvGrpSpPr>
        <p:grpSpPr>
          <a:xfrm>
            <a:off x="8303181" y="5292612"/>
            <a:ext cx="418645" cy="41864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sp>
        <p:sp>
          <p:nvSpPr>
            <p:cNvPr id="22" name="TextBox 22"/>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grpSp>
        <p:nvGrpSpPr>
          <p:cNvPr id="23" name="Group 23"/>
          <p:cNvGrpSpPr>
            <a:grpSpLocks noChangeAspect="1"/>
          </p:cNvGrpSpPr>
          <p:nvPr/>
        </p:nvGrpSpPr>
        <p:grpSpPr>
          <a:xfrm>
            <a:off x="3321726" y="1993313"/>
            <a:ext cx="3542970" cy="7010374"/>
            <a:chOff x="0" y="0"/>
            <a:chExt cx="2620010" cy="5184140"/>
          </a:xfrm>
        </p:grpSpPr>
        <p:sp>
          <p:nvSpPr>
            <p:cNvPr id="24" name="Freeform 24"/>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25" name="Freeform 25"/>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7"/>
              <a:stretch>
                <a:fillRect l="-22324" r="-22324"/>
              </a:stretch>
            </a:blipFill>
          </p:spPr>
        </p:sp>
        <p:sp>
          <p:nvSpPr>
            <p:cNvPr id="26" name="Freeform 26"/>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27" name="Freeform 27"/>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id="28" name="Freeform 28"/>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29" name="Freeform 29"/>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30" name="Freeform 30"/>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31" name="Freeform 31"/>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32" name="Freeform 32"/>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id="33" name="TextBox 33"/>
          <p:cNvSpPr txBox="1"/>
          <p:nvPr/>
        </p:nvSpPr>
        <p:spPr>
          <a:xfrm>
            <a:off x="1628571" y="1038225"/>
            <a:ext cx="4467429" cy="218008"/>
          </a:xfrm>
          <a:prstGeom prst="rect">
            <a:avLst/>
          </a:prstGeom>
        </p:spPr>
        <p:txBody>
          <a:bodyPr wrap="square" lIns="0" tIns="0" rIns="0" bIns="0" rtlCol="0" anchor="t">
            <a:spAutoFit/>
          </a:bodyPr>
          <a:lstStyle/>
          <a:p>
            <a:pPr>
              <a:lnSpc>
                <a:spcPts val="1677"/>
              </a:lnSpc>
              <a:spcBef>
                <a:spcPct val="0"/>
              </a:spcBef>
            </a:pPr>
            <a:r>
              <a:rPr lang="en-US" sz="1582" spc="98" dirty="0">
                <a:solidFill>
                  <a:srgbClr val="FFFFFF"/>
                </a:solidFill>
                <a:latin typeface="Raleway"/>
                <a:ea typeface="Raleway"/>
                <a:cs typeface="Raleway"/>
                <a:sym typeface="Raleway"/>
              </a:rPr>
              <a:t>CIPHERS &amp; CYBERSECURITY</a:t>
            </a:r>
          </a:p>
        </p:txBody>
      </p:sp>
      <p:sp>
        <p:nvSpPr>
          <p:cNvPr id="38" name="TextBox 38"/>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21</a:t>
            </a:r>
            <a:endParaRPr lang="en-US" sz="1463" b="1" spc="379" dirty="0">
              <a:solidFill>
                <a:srgbClr val="FFFFFF"/>
              </a:solidFill>
              <a:latin typeface="TT Lakes Neue Bold"/>
              <a:ea typeface="TT Lakes Neue Bold"/>
              <a:cs typeface="TT Lakes Neue Bold"/>
              <a:sym typeface="TT Lakes Neue Bold"/>
            </a:endParaRPr>
          </a:p>
        </p:txBody>
      </p:sp>
      <p:sp>
        <p:nvSpPr>
          <p:cNvPr id="39" name="TextBox 39"/>
          <p:cNvSpPr txBox="1"/>
          <p:nvPr/>
        </p:nvSpPr>
        <p:spPr>
          <a:xfrm>
            <a:off x="8303181" y="2414026"/>
            <a:ext cx="8393624" cy="1173843"/>
          </a:xfrm>
          <a:prstGeom prst="rect">
            <a:avLst/>
          </a:prstGeom>
        </p:spPr>
        <p:txBody>
          <a:bodyPr lIns="0" tIns="0" rIns="0" bIns="0" rtlCol="0" anchor="t">
            <a:spAutoFit/>
          </a:bodyPr>
          <a:lstStyle/>
          <a:p>
            <a:pPr>
              <a:lnSpc>
                <a:spcPts val="8919"/>
              </a:lnSpc>
              <a:spcBef>
                <a:spcPct val="0"/>
              </a:spcBef>
            </a:pPr>
            <a:r>
              <a:rPr lang="en-US" sz="8414" dirty="0">
                <a:solidFill>
                  <a:srgbClr val="FFFFFF"/>
                </a:solidFill>
                <a:latin typeface="Anton"/>
                <a:ea typeface="Anton"/>
                <a:cs typeface="Anton"/>
                <a:sym typeface="Anton"/>
              </a:rPr>
              <a:t>SYMMETRIC CIPHERS</a:t>
            </a:r>
          </a:p>
        </p:txBody>
      </p:sp>
      <p:sp>
        <p:nvSpPr>
          <p:cNvPr id="40" name="TextBox 40"/>
          <p:cNvSpPr txBox="1"/>
          <p:nvPr/>
        </p:nvSpPr>
        <p:spPr>
          <a:xfrm>
            <a:off x="8757841" y="4407702"/>
            <a:ext cx="706545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Encryption using one key (e.g., AES, DES). Fast but requires secure key </a:t>
            </a:r>
            <a:r>
              <a:rPr lang="en-US" sz="1580" dirty="0" smtClean="0">
                <a:solidFill>
                  <a:srgbClr val="FFFFFF"/>
                </a:solidFill>
                <a:latin typeface="Raleway"/>
                <a:ea typeface="Raleway"/>
                <a:cs typeface="Raleway"/>
                <a:sym typeface="Raleway"/>
              </a:rPr>
              <a:t>exchange.</a:t>
            </a:r>
            <a:endParaRPr lang="en-US" sz="1580" dirty="0">
              <a:solidFill>
                <a:srgbClr val="FFFFFF"/>
              </a:solidFill>
              <a:latin typeface="Raleway"/>
              <a:ea typeface="Raleway"/>
              <a:cs typeface="Raleway"/>
              <a:sym typeface="Raleway"/>
            </a:endParaRPr>
          </a:p>
        </p:txBody>
      </p:sp>
      <p:sp>
        <p:nvSpPr>
          <p:cNvPr id="41" name="TextBox 41"/>
          <p:cNvSpPr txBox="1"/>
          <p:nvPr/>
        </p:nvSpPr>
        <p:spPr>
          <a:xfrm>
            <a:off x="8441250" y="3872786"/>
            <a:ext cx="209323" cy="283755"/>
          </a:xfrm>
          <a:prstGeom prst="rect">
            <a:avLst/>
          </a:prstGeom>
        </p:spPr>
        <p:txBody>
          <a:bodyPr lIns="0" tIns="0" rIns="0" bIns="0" rtlCol="0" anchor="t">
            <a:spAutoFit/>
          </a:bodyPr>
          <a:lstStyle/>
          <a:p>
            <a:pPr algn="l">
              <a:lnSpc>
                <a:spcPts val="2212"/>
              </a:lnSpc>
              <a:spcBef>
                <a:spcPct val="0"/>
              </a:spcBef>
            </a:pPr>
            <a:r>
              <a:rPr lang="en-US" sz="1580">
                <a:solidFill>
                  <a:srgbClr val="FFFFFF"/>
                </a:solidFill>
                <a:latin typeface="Raleway"/>
                <a:ea typeface="Raleway"/>
                <a:cs typeface="Raleway"/>
                <a:sym typeface="Raleway"/>
              </a:rPr>
              <a:t>1.</a:t>
            </a:r>
          </a:p>
        </p:txBody>
      </p:sp>
      <p:sp>
        <p:nvSpPr>
          <p:cNvPr id="42" name="TextBox 42"/>
          <p:cNvSpPr txBox="1"/>
          <p:nvPr/>
        </p:nvSpPr>
        <p:spPr>
          <a:xfrm>
            <a:off x="8893731" y="3884975"/>
            <a:ext cx="3389562" cy="307713"/>
          </a:xfrm>
          <a:prstGeom prst="rect">
            <a:avLst/>
          </a:prstGeom>
        </p:spPr>
        <p:txBody>
          <a:bodyPr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SYMMETRIC CIPHERS</a:t>
            </a:r>
          </a:p>
        </p:txBody>
      </p:sp>
      <p:sp>
        <p:nvSpPr>
          <p:cNvPr id="43" name="TextBox 43"/>
          <p:cNvSpPr txBox="1"/>
          <p:nvPr/>
        </p:nvSpPr>
        <p:spPr>
          <a:xfrm>
            <a:off x="8757841" y="7942815"/>
            <a:ext cx="6855903" cy="542200"/>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Historical methods (Caesar, </a:t>
            </a:r>
            <a:r>
              <a:rPr lang="en-US" sz="1580" dirty="0" err="1">
                <a:solidFill>
                  <a:srgbClr val="FFFFFF"/>
                </a:solidFill>
                <a:latin typeface="Raleway"/>
                <a:ea typeface="Raleway"/>
                <a:cs typeface="Raleway"/>
                <a:sym typeface="Raleway"/>
              </a:rPr>
              <a:t>Vigenère</a:t>
            </a:r>
            <a:r>
              <a:rPr lang="en-US" sz="1580" dirty="0">
                <a:solidFill>
                  <a:srgbClr val="FFFFFF"/>
                </a:solidFill>
                <a:latin typeface="Raleway"/>
                <a:ea typeface="Raleway"/>
                <a:cs typeface="Raleway"/>
                <a:sym typeface="Raleway"/>
              </a:rPr>
              <a:t>). Foundation of modern cryptography</a:t>
            </a:r>
          </a:p>
        </p:txBody>
      </p:sp>
      <p:sp>
        <p:nvSpPr>
          <p:cNvPr id="44" name="TextBox 44"/>
          <p:cNvSpPr txBox="1"/>
          <p:nvPr/>
        </p:nvSpPr>
        <p:spPr>
          <a:xfrm>
            <a:off x="8407841" y="5371678"/>
            <a:ext cx="209323" cy="283755"/>
          </a:xfrm>
          <a:prstGeom prst="rect">
            <a:avLst/>
          </a:prstGeom>
        </p:spPr>
        <p:txBody>
          <a:bodyPr lIns="0" tIns="0" rIns="0" bIns="0" rtlCol="0" anchor="t">
            <a:spAutoFit/>
          </a:bodyPr>
          <a:lstStyle/>
          <a:p>
            <a:pPr algn="l">
              <a:lnSpc>
                <a:spcPts val="2212"/>
              </a:lnSpc>
              <a:spcBef>
                <a:spcPct val="0"/>
              </a:spcBef>
            </a:pPr>
            <a:r>
              <a:rPr lang="en-US" sz="1580" dirty="0">
                <a:solidFill>
                  <a:srgbClr val="FFFFFF"/>
                </a:solidFill>
                <a:latin typeface="Raleway"/>
                <a:ea typeface="Raleway"/>
                <a:cs typeface="Raleway"/>
                <a:sym typeface="Raleway"/>
              </a:rPr>
              <a:t>2.</a:t>
            </a:r>
          </a:p>
        </p:txBody>
      </p:sp>
      <p:sp>
        <p:nvSpPr>
          <p:cNvPr id="45" name="TextBox 45"/>
          <p:cNvSpPr txBox="1"/>
          <p:nvPr/>
        </p:nvSpPr>
        <p:spPr>
          <a:xfrm>
            <a:off x="8757841" y="5403544"/>
            <a:ext cx="3179050" cy="307713"/>
          </a:xfrm>
          <a:prstGeom prst="rect">
            <a:avLst/>
          </a:prstGeom>
        </p:spPr>
        <p:txBody>
          <a:bodyPr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ASYMMETRIC CIPHERS</a:t>
            </a:r>
          </a:p>
        </p:txBody>
      </p:sp>
      <p:grpSp>
        <p:nvGrpSpPr>
          <p:cNvPr id="46" name="Group 46"/>
          <p:cNvGrpSpPr/>
          <p:nvPr/>
        </p:nvGrpSpPr>
        <p:grpSpPr>
          <a:xfrm>
            <a:off x="2426769" y="5159789"/>
            <a:ext cx="2070093" cy="2408835"/>
            <a:chOff x="0" y="0"/>
            <a:chExt cx="698500" cy="812800"/>
          </a:xfrm>
        </p:grpSpPr>
        <p:sp>
          <p:nvSpPr>
            <p:cNvPr id="47" name="Freeform 4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8"/>
              <a:stretch>
                <a:fillRect l="-25826" r="-81041"/>
              </a:stretch>
            </a:blipFill>
            <a:ln w="38100" cap="sq">
              <a:gradFill>
                <a:gsLst>
                  <a:gs pos="0">
                    <a:srgbClr val="45DEEF">
                      <a:alpha val="100000"/>
                    </a:srgbClr>
                  </a:gs>
                  <a:gs pos="100000">
                    <a:srgbClr val="0074AD">
                      <a:alpha val="6500"/>
                    </a:srgbClr>
                  </a:gs>
                </a:gsLst>
                <a:lin ang="0"/>
              </a:gradFill>
              <a:prstDash val="solid"/>
              <a:miter/>
            </a:ln>
          </p:spPr>
        </p:sp>
      </p:grpSp>
      <p:grpSp>
        <p:nvGrpSpPr>
          <p:cNvPr id="53" name="Group 20"/>
          <p:cNvGrpSpPr/>
          <p:nvPr/>
        </p:nvGrpSpPr>
        <p:grpSpPr>
          <a:xfrm>
            <a:off x="8270497" y="7111818"/>
            <a:ext cx="418645" cy="818297"/>
            <a:chOff x="-63456" y="-852125"/>
            <a:chExt cx="812800" cy="1588725"/>
          </a:xfrm>
        </p:grpSpPr>
        <p:sp>
          <p:nvSpPr>
            <p:cNvPr id="54" name="Freeform 21"/>
            <p:cNvSpPr/>
            <p:nvPr/>
          </p:nvSpPr>
          <p:spPr>
            <a:xfrm>
              <a:off x="-63456" y="-85212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45DEEF">
                      <a:alpha val="100000"/>
                    </a:srgbClr>
                  </a:gs>
                  <a:gs pos="100000">
                    <a:srgbClr val="0074AD">
                      <a:alpha val="6500"/>
                    </a:srgbClr>
                  </a:gs>
                </a:gsLst>
                <a:lin ang="0"/>
              </a:gradFill>
              <a:prstDash val="solid"/>
              <a:miter/>
            </a:ln>
          </p:spPr>
          <p:txBody>
            <a:bodyPr/>
            <a:lstStyle/>
            <a:p>
              <a:pPr>
                <a:lnSpc>
                  <a:spcPts val="2212"/>
                </a:lnSpc>
                <a:spcBef>
                  <a:spcPct val="0"/>
                </a:spcBef>
              </a:pPr>
              <a:r>
                <a:rPr lang="en-US" dirty="0">
                  <a:sym typeface="Raleway"/>
                </a:rPr>
                <a:t> </a:t>
              </a:r>
              <a:r>
                <a:rPr lang="en-US" dirty="0">
                  <a:solidFill>
                    <a:srgbClr val="FFFFFF"/>
                  </a:solidFill>
                  <a:latin typeface="Raleway"/>
                  <a:sym typeface="Raleway"/>
                </a:rPr>
                <a:t>3</a:t>
              </a:r>
              <a:r>
                <a:rPr lang="en-US" dirty="0" smtClean="0">
                  <a:solidFill>
                    <a:srgbClr val="FFFFFF"/>
                  </a:solidFill>
                  <a:latin typeface="Raleway"/>
                  <a:ea typeface="Raleway"/>
                  <a:cs typeface="Raleway"/>
                  <a:sym typeface="Raleway"/>
                </a:rPr>
                <a:t>.</a:t>
              </a:r>
              <a:endParaRPr lang="en-US" dirty="0">
                <a:solidFill>
                  <a:srgbClr val="FFFFFF"/>
                </a:solidFill>
                <a:latin typeface="Raleway"/>
                <a:ea typeface="Raleway"/>
                <a:cs typeface="Raleway"/>
                <a:sym typeface="Raleway"/>
              </a:endParaRPr>
            </a:p>
          </p:txBody>
        </p:sp>
        <p:sp>
          <p:nvSpPr>
            <p:cNvPr id="55" name="TextBox 22"/>
            <p:cNvSpPr txBox="1"/>
            <p:nvPr/>
          </p:nvSpPr>
          <p:spPr>
            <a:xfrm>
              <a:off x="76200" y="114300"/>
              <a:ext cx="660400" cy="622300"/>
            </a:xfrm>
            <a:prstGeom prst="rect">
              <a:avLst/>
            </a:prstGeom>
          </p:spPr>
          <p:txBody>
            <a:bodyPr lIns="50800" tIns="50800" rIns="50800" bIns="50800" rtlCol="0" anchor="ctr"/>
            <a:lstStyle/>
            <a:p>
              <a:pPr algn="ctr">
                <a:lnSpc>
                  <a:spcPts val="2473"/>
                </a:lnSpc>
              </a:pPr>
              <a:endParaRPr/>
            </a:p>
          </p:txBody>
        </p:sp>
      </p:grpSp>
      <p:sp>
        <p:nvSpPr>
          <p:cNvPr id="56" name="TextBox 45"/>
          <p:cNvSpPr txBox="1"/>
          <p:nvPr/>
        </p:nvSpPr>
        <p:spPr>
          <a:xfrm>
            <a:off x="8893731" y="7222750"/>
            <a:ext cx="3179050" cy="307713"/>
          </a:xfrm>
          <a:prstGeom prst="rect">
            <a:avLst/>
          </a:prstGeom>
        </p:spPr>
        <p:txBody>
          <a:bodyPr lIns="0" tIns="0" rIns="0" bIns="0" rtlCol="0" anchor="t">
            <a:spAutoFit/>
          </a:bodyPr>
          <a:lstStyle/>
          <a:p>
            <a:pPr>
              <a:lnSpc>
                <a:spcPts val="2631"/>
              </a:lnSpc>
              <a:spcBef>
                <a:spcPct val="0"/>
              </a:spcBef>
            </a:pPr>
            <a:r>
              <a:rPr lang="en-US" sz="1879" dirty="0">
                <a:solidFill>
                  <a:srgbClr val="FFFFFF"/>
                </a:solidFill>
                <a:latin typeface="Raleway"/>
                <a:ea typeface="Raleway"/>
                <a:cs typeface="Raleway"/>
                <a:sym typeface="Raleway"/>
              </a:rPr>
              <a:t>CLASSICAL CIPHERS</a:t>
            </a:r>
          </a:p>
        </p:txBody>
      </p:sp>
      <p:sp>
        <p:nvSpPr>
          <p:cNvPr id="59" name="TextBox 43"/>
          <p:cNvSpPr txBox="1"/>
          <p:nvPr/>
        </p:nvSpPr>
        <p:spPr>
          <a:xfrm>
            <a:off x="8757841" y="6109450"/>
            <a:ext cx="6855903" cy="260071"/>
          </a:xfrm>
          <a:prstGeom prst="rect">
            <a:avLst/>
          </a:prstGeom>
        </p:spPr>
        <p:txBody>
          <a:bodyPr lIns="0" tIns="0" rIns="0" bIns="0" rtlCol="0" anchor="t">
            <a:spAutoFit/>
          </a:bodyPr>
          <a:lstStyle/>
          <a:p>
            <a:pPr>
              <a:lnSpc>
                <a:spcPts val="2212"/>
              </a:lnSpc>
              <a:spcBef>
                <a:spcPct val="0"/>
              </a:spcBef>
            </a:pPr>
            <a:r>
              <a:rPr lang="en-US" sz="1580" dirty="0">
                <a:solidFill>
                  <a:srgbClr val="FFFFFF"/>
                </a:solidFill>
                <a:latin typeface="Raleway"/>
                <a:ea typeface="Raleway"/>
                <a:cs typeface="Raleway"/>
                <a:sym typeface="Raleway"/>
              </a:rPr>
              <a:t>Uses public/private keys (e.g., RSA). Ideal for digital </a:t>
            </a:r>
            <a:r>
              <a:rPr lang="en-US" sz="1580" dirty="0" smtClean="0">
                <a:solidFill>
                  <a:srgbClr val="FFFFFF"/>
                </a:solidFill>
                <a:latin typeface="Raleway"/>
                <a:ea typeface="Raleway"/>
                <a:cs typeface="Raleway"/>
                <a:sym typeface="Raleway"/>
              </a:rPr>
              <a:t>signatures</a:t>
            </a:r>
            <a:r>
              <a:rPr lang="en-US" sz="1580" dirty="0">
                <a:solidFill>
                  <a:srgbClr val="FFFFFF"/>
                </a:solidFill>
                <a:latin typeface="Raleway"/>
                <a:ea typeface="Raleway"/>
                <a:cs typeface="Raleway"/>
                <a:sym typeface="Raleway"/>
              </a:rPr>
              <a: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914827" y="802108"/>
            <a:ext cx="580294" cy="580294"/>
          </a:xfrm>
          <a:custGeom>
            <a:avLst/>
            <a:gdLst/>
            <a:ahLst/>
            <a:cxnLst/>
            <a:rect l="l" t="t" r="r" b="b"/>
            <a:pathLst>
              <a:path w="580294" h="580294">
                <a:moveTo>
                  <a:pt x="0" y="0"/>
                </a:moveTo>
                <a:lnTo>
                  <a:pt x="580294" y="0"/>
                </a:lnTo>
                <a:lnTo>
                  <a:pt x="580294" y="580294"/>
                </a:lnTo>
                <a:lnTo>
                  <a:pt x="0" y="58029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6321766" y="9615834"/>
            <a:ext cx="2192753" cy="1597205"/>
            <a:chOff x="0" y="0"/>
            <a:chExt cx="577515" cy="420663"/>
          </a:xfrm>
        </p:grpSpPr>
        <p:sp>
          <p:nvSpPr>
            <p:cNvPr id="5" name="Freeform 5"/>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45DEEF">
                    <a:alpha val="100000"/>
                  </a:srgbClr>
                </a:gs>
                <a:gs pos="100000">
                  <a:srgbClr val="0074AD">
                    <a:alpha val="6500"/>
                  </a:srgbClr>
                </a:gs>
              </a:gsLst>
              <a:lin ang="0"/>
            </a:gradFill>
          </p:spPr>
        </p:sp>
        <p:sp>
          <p:nvSpPr>
            <p:cNvPr id="6" name="TextBox 6"/>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grpSp>
        <p:nvGrpSpPr>
          <p:cNvPr id="7" name="Group 7"/>
          <p:cNvGrpSpPr/>
          <p:nvPr/>
        </p:nvGrpSpPr>
        <p:grpSpPr>
          <a:xfrm>
            <a:off x="0" y="9488397"/>
            <a:ext cx="2192753" cy="1597205"/>
            <a:chOff x="0" y="0"/>
            <a:chExt cx="577515" cy="420663"/>
          </a:xfrm>
        </p:grpSpPr>
        <p:sp>
          <p:nvSpPr>
            <p:cNvPr id="8" name="Freeform 8"/>
            <p:cNvSpPr/>
            <p:nvPr/>
          </p:nvSpPr>
          <p:spPr>
            <a:xfrm>
              <a:off x="0" y="0"/>
              <a:ext cx="577515" cy="420663"/>
            </a:xfrm>
            <a:custGeom>
              <a:avLst/>
              <a:gdLst/>
              <a:ahLst/>
              <a:cxnLst/>
              <a:rect l="l" t="t" r="r" b="b"/>
              <a:pathLst>
                <a:path w="577515" h="420663">
                  <a:moveTo>
                    <a:pt x="0" y="0"/>
                  </a:moveTo>
                  <a:lnTo>
                    <a:pt x="577515" y="0"/>
                  </a:lnTo>
                  <a:lnTo>
                    <a:pt x="577515" y="420663"/>
                  </a:lnTo>
                  <a:lnTo>
                    <a:pt x="0" y="420663"/>
                  </a:lnTo>
                  <a:close/>
                </a:path>
              </a:pathLst>
            </a:custGeom>
            <a:gradFill rotWithShape="1">
              <a:gsLst>
                <a:gs pos="0">
                  <a:srgbClr val="0074AD">
                    <a:alpha val="6500"/>
                  </a:srgbClr>
                </a:gs>
                <a:gs pos="100000">
                  <a:srgbClr val="45DEEF">
                    <a:alpha val="100000"/>
                  </a:srgbClr>
                </a:gs>
              </a:gsLst>
              <a:lin ang="0"/>
            </a:gradFill>
          </p:spPr>
        </p:sp>
        <p:sp>
          <p:nvSpPr>
            <p:cNvPr id="9" name="TextBox 9"/>
            <p:cNvSpPr txBox="1"/>
            <p:nvPr/>
          </p:nvSpPr>
          <p:spPr>
            <a:xfrm>
              <a:off x="0" y="38100"/>
              <a:ext cx="577515" cy="382563"/>
            </a:xfrm>
            <a:prstGeom prst="rect">
              <a:avLst/>
            </a:prstGeom>
          </p:spPr>
          <p:txBody>
            <a:bodyPr lIns="50800" tIns="50800" rIns="50800" bIns="50800" rtlCol="0" anchor="ctr"/>
            <a:lstStyle/>
            <a:p>
              <a:pPr algn="ctr">
                <a:lnSpc>
                  <a:spcPts val="2473"/>
                </a:lnSpc>
              </a:pPr>
              <a:endParaRPr/>
            </a:p>
          </p:txBody>
        </p:sp>
      </p:grpSp>
      <p:sp>
        <p:nvSpPr>
          <p:cNvPr id="10" name="Freeform 10"/>
          <p:cNvSpPr/>
          <p:nvPr/>
        </p:nvSpPr>
        <p:spPr>
          <a:xfrm flipH="1">
            <a:off x="914827" y="9719553"/>
            <a:ext cx="731654" cy="345873"/>
          </a:xfrm>
          <a:custGeom>
            <a:avLst/>
            <a:gdLst/>
            <a:ahLst/>
            <a:cxnLst/>
            <a:rect l="l" t="t" r="r" b="b"/>
            <a:pathLst>
              <a:path w="731654" h="345873">
                <a:moveTo>
                  <a:pt x="731654" y="0"/>
                </a:moveTo>
                <a:lnTo>
                  <a:pt x="0" y="0"/>
                </a:lnTo>
                <a:lnTo>
                  <a:pt x="0" y="345873"/>
                </a:lnTo>
                <a:lnTo>
                  <a:pt x="731654" y="345873"/>
                </a:lnTo>
                <a:lnTo>
                  <a:pt x="731654"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1" name="TextBox 11"/>
          <p:cNvSpPr txBox="1"/>
          <p:nvPr/>
        </p:nvSpPr>
        <p:spPr>
          <a:xfrm>
            <a:off x="1628571" y="1038225"/>
            <a:ext cx="2089737" cy="228186"/>
          </a:xfrm>
          <a:prstGeom prst="rect">
            <a:avLst/>
          </a:prstGeom>
        </p:spPr>
        <p:txBody>
          <a:bodyPr lIns="0" tIns="0" rIns="0" bIns="0" rtlCol="0" anchor="t">
            <a:spAutoFit/>
          </a:bodyPr>
          <a:lstStyle/>
          <a:p>
            <a:pPr algn="l">
              <a:lnSpc>
                <a:spcPts val="1677"/>
              </a:lnSpc>
              <a:spcBef>
                <a:spcPct val="0"/>
              </a:spcBef>
            </a:pPr>
            <a:r>
              <a:rPr lang="en-US" sz="1582" spc="98" dirty="0">
                <a:solidFill>
                  <a:srgbClr val="FFFFFF"/>
                </a:solidFill>
                <a:latin typeface="Raleway"/>
                <a:ea typeface="Raleway"/>
                <a:cs typeface="Raleway"/>
                <a:sym typeface="Raleway"/>
              </a:rPr>
              <a:t>LICERIA &amp; CO.</a:t>
            </a:r>
          </a:p>
        </p:txBody>
      </p:sp>
      <p:sp>
        <p:nvSpPr>
          <p:cNvPr id="16" name="TextBox 16"/>
          <p:cNvSpPr txBox="1"/>
          <p:nvPr/>
        </p:nvSpPr>
        <p:spPr>
          <a:xfrm>
            <a:off x="16656616" y="9872467"/>
            <a:ext cx="1205367" cy="210122"/>
          </a:xfrm>
          <a:prstGeom prst="rect">
            <a:avLst/>
          </a:prstGeom>
        </p:spPr>
        <p:txBody>
          <a:bodyPr lIns="0" tIns="0" rIns="0" bIns="0" rtlCol="0" anchor="t">
            <a:spAutoFit/>
          </a:bodyPr>
          <a:lstStyle/>
          <a:p>
            <a:pPr algn="ctr">
              <a:lnSpc>
                <a:spcPts val="1551"/>
              </a:lnSpc>
              <a:spcBef>
                <a:spcPct val="0"/>
              </a:spcBef>
            </a:pPr>
            <a:r>
              <a:rPr lang="en-US" sz="1463" b="1" spc="379" dirty="0">
                <a:solidFill>
                  <a:srgbClr val="FFFFFF"/>
                </a:solidFill>
                <a:latin typeface="TT Lakes Neue Bold"/>
                <a:ea typeface="TT Lakes Neue Bold"/>
                <a:cs typeface="TT Lakes Neue Bold"/>
                <a:sym typeface="TT Lakes Neue Bold"/>
              </a:rPr>
              <a:t>PAGE </a:t>
            </a:r>
            <a:r>
              <a:rPr lang="en-US" sz="1463" b="1" spc="379" dirty="0" smtClean="0">
                <a:solidFill>
                  <a:srgbClr val="FFFFFF"/>
                </a:solidFill>
                <a:latin typeface="TT Lakes Neue Bold"/>
                <a:ea typeface="TT Lakes Neue Bold"/>
                <a:cs typeface="TT Lakes Neue Bold"/>
                <a:sym typeface="TT Lakes Neue Bold"/>
              </a:rPr>
              <a:t>22</a:t>
            </a:r>
            <a:endParaRPr lang="en-US" sz="1463" b="1" spc="379" dirty="0">
              <a:solidFill>
                <a:srgbClr val="FFFFFF"/>
              </a:solidFill>
              <a:latin typeface="TT Lakes Neue Bold"/>
              <a:ea typeface="TT Lakes Neue Bold"/>
              <a:cs typeface="TT Lakes Neue Bold"/>
              <a:sym typeface="TT Lakes Neue Bold"/>
            </a:endParaRPr>
          </a:p>
        </p:txBody>
      </p:sp>
      <p:sp>
        <p:nvSpPr>
          <p:cNvPr id="19" name="TextBox 19"/>
          <p:cNvSpPr txBox="1"/>
          <p:nvPr/>
        </p:nvSpPr>
        <p:spPr>
          <a:xfrm>
            <a:off x="4134716" y="3907688"/>
            <a:ext cx="9967769" cy="2009799"/>
          </a:xfrm>
          <a:prstGeom prst="rect">
            <a:avLst/>
          </a:prstGeom>
        </p:spPr>
        <p:txBody>
          <a:bodyPr lIns="0" tIns="0" rIns="0" bIns="0" rtlCol="0" anchor="t">
            <a:spAutoFit/>
          </a:bodyPr>
          <a:lstStyle/>
          <a:p>
            <a:pPr algn="ctr">
              <a:lnSpc>
                <a:spcPts val="15329"/>
              </a:lnSpc>
              <a:spcBef>
                <a:spcPct val="0"/>
              </a:spcBef>
            </a:pPr>
            <a:r>
              <a:rPr lang="en-US" sz="14461" dirty="0" smtClean="0">
                <a:solidFill>
                  <a:srgbClr val="FFFFFF"/>
                </a:solidFill>
                <a:latin typeface="Anton"/>
                <a:ea typeface="Anton"/>
                <a:cs typeface="Anton"/>
                <a:sym typeface="Anton"/>
              </a:rPr>
              <a:t>Thank You</a:t>
            </a:r>
            <a:endParaRPr lang="en-US" sz="14461" dirty="0">
              <a:solidFill>
                <a:srgbClr val="FFFFFF"/>
              </a:solidFill>
              <a:latin typeface="Anton"/>
              <a:ea typeface="Anton"/>
              <a:cs typeface="Anton"/>
              <a:sym typeface="Anton"/>
            </a:endParaRPr>
          </a:p>
        </p:txBody>
      </p:sp>
      <p:sp>
        <p:nvSpPr>
          <p:cNvPr id="21" name="Freeform 21"/>
          <p:cNvSpPr/>
          <p:nvPr/>
        </p:nvSpPr>
        <p:spPr>
          <a:xfrm>
            <a:off x="12409605" y="4912588"/>
            <a:ext cx="551787" cy="965929"/>
          </a:xfrm>
          <a:custGeom>
            <a:avLst/>
            <a:gdLst/>
            <a:ahLst/>
            <a:cxnLst/>
            <a:rect l="l" t="t" r="r" b="b"/>
            <a:pathLst>
              <a:path w="551787" h="965929">
                <a:moveTo>
                  <a:pt x="0" y="0"/>
                </a:moveTo>
                <a:lnTo>
                  <a:pt x="551787" y="0"/>
                </a:lnTo>
                <a:lnTo>
                  <a:pt x="551787" y="965928"/>
                </a:lnTo>
                <a:lnTo>
                  <a:pt x="0" y="96592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655</TotalTime>
  <Words>1792</Words>
  <Application>Microsoft Office PowerPoint</Application>
  <PresentationFormat>Custom</PresentationFormat>
  <Paragraphs>228</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TT Lakes Neue</vt:lpstr>
      <vt:lpstr>Anton</vt:lpstr>
      <vt:lpstr>Raleway</vt:lpstr>
      <vt:lpstr>Calibri</vt:lpstr>
      <vt:lpstr>TT Lakes Neue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Black Tech Modern Cyber Security Presentation</dc:title>
  <dc:creator>Administrator</dc:creator>
  <cp:lastModifiedBy>Administrator</cp:lastModifiedBy>
  <cp:revision>34</cp:revision>
  <dcterms:created xsi:type="dcterms:W3CDTF">2006-08-16T00:00:00Z</dcterms:created>
  <dcterms:modified xsi:type="dcterms:W3CDTF">2025-05-11T15:33:56Z</dcterms:modified>
  <dc:identifier>DAGm-OLVV0Q</dc:identifier>
</cp:coreProperties>
</file>